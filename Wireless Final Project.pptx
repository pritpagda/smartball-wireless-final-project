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58" r:id="rId3"/>
    <p:sldId id="257" r:id="rId4"/>
    <p:sldId id="271" r:id="rId5"/>
    <p:sldId id="279" r:id="rId6"/>
    <p:sldId id="263" r:id="rId7"/>
    <p:sldId id="273" r:id="rId8"/>
    <p:sldId id="278" r:id="rId9"/>
    <p:sldId id="280" r:id="rId10"/>
    <p:sldId id="281" r:id="rId11"/>
    <p:sldId id="282" r:id="rId12"/>
    <p:sldId id="277" r:id="rId13"/>
    <p:sldId id="275" r:id="rId14"/>
    <p:sldId id="276" r:id="rId15"/>
    <p:sldId id="272" r:id="rId16"/>
    <p:sldId id="265" r:id="rId17"/>
    <p:sldId id="274" r:id="rId18"/>
    <p:sldId id="267" r:id="rId19"/>
    <p:sldId id="268" r:id="rId20"/>
    <p:sldId id="269"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66D2B-C11D-2401-A977-901F5E6AF820}" v="3029" dt="2026-04-15T02:07:09.080"/>
    <p1510:client id="{21642F6D-AAEC-453A-8C7C-4965464226B6}" v="6702" dt="2026-04-15T03:12:49.425"/>
    <p1510:client id="{368B8A81-2B40-F6A1-C713-C7A59CF88F99}" v="809" dt="2026-04-14T23:50:16.417"/>
    <p1510:client id="{84A00864-2432-129C-572F-089249E87721}" v="2213" dt="2026-04-15T01:02:05.440"/>
    <p1510:client id="{B70B4F1A-F319-A7AB-B0A4-6601B4FE240B}" v="313" dt="2026-04-14T23:52:36.867"/>
    <p1510:client id="{DECE8C9D-F25F-DAB9-311A-D2F38FC8249E}" v="2681" dt="2026-04-15T02:56:32.088"/>
    <p1510:client id="{FBEAF575-3653-455C-A892-CA9354451186}" v="1" dt="2026-04-15T01:35:23.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91A4FBD5-D638-4F14-B612-DF7269D86D81}" type="doc">
      <dgm:prSet loTypeId="urn:microsoft.com/office/officeart/2018/5/layout/IconCircle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B8B669DE-61BB-429C-B210-0CBD614C6DE4}">
      <dgm:prSet/>
      <dgm:spPr/>
      <dgm:t>
        <a:bodyPr/>
        <a:lstStyle/>
        <a:p>
          <a:pPr>
            <a:lnSpc>
              <a:spcPct val="100000"/>
            </a:lnSpc>
            <a:defRPr cap="all"/>
          </a:pPr>
          <a:r>
            <a:rPr lang="en-US" b="1">
              <a:latin typeface="Century Schoolbook" panose="02040604050505020304"/>
            </a:rPr>
            <a:t>Background </a:t>
          </a:r>
          <a:r>
            <a:rPr lang="en-US">
              <a:latin typeface="Century Schoolbook" panose="02040604050505020304"/>
            </a:rPr>
            <a:t>- The</a:t>
          </a:r>
          <a:r>
            <a:rPr lang="en-US"/>
            <a:t> problems with current sports analytics systems.</a:t>
          </a:r>
        </a:p>
      </dgm:t>
    </dgm:pt>
    <dgm:pt modelId="{33F037F4-1D9F-4906-8315-4981A6123AED}" type="parTrans" cxnId="{67ABA4E2-F3F7-4937-9DBA-CB6BFFEDE627}">
      <dgm:prSet/>
      <dgm:spPr/>
      <dgm:t>
        <a:bodyPr/>
        <a:lstStyle/>
        <a:p>
          <a:endParaRPr lang="en-US"/>
        </a:p>
      </dgm:t>
    </dgm:pt>
    <dgm:pt modelId="{79D8B5D6-515D-4E36-95EC-10F934A98C44}" type="sibTrans" cxnId="{67ABA4E2-F3F7-4937-9DBA-CB6BFFEDE627}">
      <dgm:prSet/>
      <dgm:spPr/>
      <dgm:t>
        <a:bodyPr/>
        <a:lstStyle/>
        <a:p>
          <a:endParaRPr lang="en-US"/>
        </a:p>
      </dgm:t>
    </dgm:pt>
    <dgm:pt modelId="{690D6E15-41B8-415F-86DF-E12AD54ED287}">
      <dgm:prSet/>
      <dgm:spPr/>
      <dgm:t>
        <a:bodyPr/>
        <a:lstStyle/>
        <a:p>
          <a:pPr>
            <a:lnSpc>
              <a:spcPct val="100000"/>
            </a:lnSpc>
            <a:defRPr cap="all"/>
          </a:pPr>
          <a:r>
            <a:rPr lang="en-US" b="1" err="1"/>
            <a:t>SmartBall</a:t>
          </a:r>
          <a:r>
            <a:rPr lang="en-US" b="1"/>
            <a:t> System Overview</a:t>
          </a:r>
          <a:r>
            <a:rPr lang="en-US"/>
            <a:t> – Covering the system at a high level and then going more into detail in both software and hardware.</a:t>
          </a:r>
        </a:p>
      </dgm:t>
    </dgm:pt>
    <dgm:pt modelId="{CD7A92A9-8DD3-4190-AE63-D1E34F20ACEC}" type="parTrans" cxnId="{C8D58F20-6B83-43D1-9975-B28A9B121500}">
      <dgm:prSet/>
      <dgm:spPr/>
      <dgm:t>
        <a:bodyPr/>
        <a:lstStyle/>
        <a:p>
          <a:endParaRPr lang="en-US"/>
        </a:p>
      </dgm:t>
    </dgm:pt>
    <dgm:pt modelId="{96F08B5E-8B9B-4BB7-8951-53BB1733E066}" type="sibTrans" cxnId="{C8D58F20-6B83-43D1-9975-B28A9B121500}">
      <dgm:prSet/>
      <dgm:spPr/>
      <dgm:t>
        <a:bodyPr/>
        <a:lstStyle/>
        <a:p>
          <a:endParaRPr lang="en-US"/>
        </a:p>
      </dgm:t>
    </dgm:pt>
    <dgm:pt modelId="{6123F83D-3299-4F9A-9CA2-1CDE878B19F6}">
      <dgm:prSet/>
      <dgm:spPr/>
      <dgm:t>
        <a:bodyPr/>
        <a:lstStyle/>
        <a:p>
          <a:pPr>
            <a:lnSpc>
              <a:spcPct val="100000"/>
            </a:lnSpc>
            <a:defRPr cap="all"/>
          </a:pPr>
          <a:r>
            <a:rPr lang="en-US" b="1" err="1"/>
            <a:t>SmartBall</a:t>
          </a:r>
          <a:r>
            <a:rPr lang="en-US" b="1"/>
            <a:t> Demo Video</a:t>
          </a:r>
        </a:p>
      </dgm:t>
    </dgm:pt>
    <dgm:pt modelId="{5FE0CDC6-7781-4512-99BE-CE2307BC9C01}" type="parTrans" cxnId="{350FED77-1FDB-48D2-AC7F-45680DFBEDE2}">
      <dgm:prSet/>
      <dgm:spPr/>
      <dgm:t>
        <a:bodyPr/>
        <a:lstStyle/>
        <a:p>
          <a:endParaRPr lang="en-US"/>
        </a:p>
      </dgm:t>
    </dgm:pt>
    <dgm:pt modelId="{33CF146F-26EE-4EC4-B839-481C933AD593}" type="sibTrans" cxnId="{350FED77-1FDB-48D2-AC7F-45680DFBEDE2}">
      <dgm:prSet/>
      <dgm:spPr/>
      <dgm:t>
        <a:bodyPr/>
        <a:lstStyle/>
        <a:p>
          <a:endParaRPr lang="en-US"/>
        </a:p>
      </dgm:t>
    </dgm:pt>
    <dgm:pt modelId="{03E73A23-AB95-434B-9717-2ED8EA44DC6A}">
      <dgm:prSet/>
      <dgm:spPr/>
      <dgm:t>
        <a:bodyPr/>
        <a:lstStyle/>
        <a:p>
          <a:pPr>
            <a:lnSpc>
              <a:spcPct val="100000"/>
            </a:lnSpc>
            <a:defRPr cap="all"/>
          </a:pPr>
          <a:r>
            <a:rPr lang="en-US" b="1"/>
            <a:t>Results from Experimentation</a:t>
          </a:r>
        </a:p>
      </dgm:t>
    </dgm:pt>
    <dgm:pt modelId="{99498995-F673-438E-8170-A318D7C59E55}" type="parTrans" cxnId="{D8E47754-A5A4-4B21-BB33-FF477D5D09A4}">
      <dgm:prSet/>
      <dgm:spPr/>
      <dgm:t>
        <a:bodyPr/>
        <a:lstStyle/>
        <a:p>
          <a:endParaRPr lang="en-US"/>
        </a:p>
      </dgm:t>
    </dgm:pt>
    <dgm:pt modelId="{17BFD1A8-C285-400C-B7D3-B781DA6762D3}" type="sibTrans" cxnId="{D8E47754-A5A4-4B21-BB33-FF477D5D09A4}">
      <dgm:prSet/>
      <dgm:spPr/>
      <dgm:t>
        <a:bodyPr/>
        <a:lstStyle/>
        <a:p>
          <a:endParaRPr lang="en-US"/>
        </a:p>
      </dgm:t>
    </dgm:pt>
    <dgm:pt modelId="{69363A89-B1E7-40DA-9E3F-8A01CA0EAF54}">
      <dgm:prSet/>
      <dgm:spPr/>
      <dgm:t>
        <a:bodyPr/>
        <a:lstStyle/>
        <a:p>
          <a:pPr>
            <a:lnSpc>
              <a:spcPct val="100000"/>
            </a:lnSpc>
            <a:defRPr cap="all"/>
          </a:pPr>
          <a:r>
            <a:rPr lang="en-US" b="1"/>
            <a:t>Conclusion </a:t>
          </a:r>
          <a:r>
            <a:rPr lang="en-US"/>
            <a:t>– Discussing the limitations and future work on the </a:t>
          </a:r>
          <a:r>
            <a:rPr lang="en-US" err="1"/>
            <a:t>SmartBall</a:t>
          </a:r>
          <a:r>
            <a:rPr lang="en-US"/>
            <a:t> System</a:t>
          </a:r>
        </a:p>
      </dgm:t>
    </dgm:pt>
    <dgm:pt modelId="{B2B76027-B4E4-4A55-B2E9-6BD9C52BB147}" type="parTrans" cxnId="{6E9E33CB-8721-4E17-B7A5-1EE20887EA19}">
      <dgm:prSet/>
      <dgm:spPr/>
      <dgm:t>
        <a:bodyPr/>
        <a:lstStyle/>
        <a:p>
          <a:endParaRPr lang="en-US"/>
        </a:p>
      </dgm:t>
    </dgm:pt>
    <dgm:pt modelId="{04F38060-8846-4802-81D3-9E9B920CBFA7}" type="sibTrans" cxnId="{6E9E33CB-8721-4E17-B7A5-1EE20887EA19}">
      <dgm:prSet/>
      <dgm:spPr/>
      <dgm:t>
        <a:bodyPr/>
        <a:lstStyle/>
        <a:p>
          <a:endParaRPr lang="en-US"/>
        </a:p>
      </dgm:t>
    </dgm:pt>
    <dgm:pt modelId="{B1FCC358-1316-4A8A-A9A0-C40848002538}" type="pres">
      <dgm:prSet presAssocID="{91A4FBD5-D638-4F14-B612-DF7269D86D81}" presName="root" presStyleCnt="0">
        <dgm:presLayoutVars>
          <dgm:dir/>
          <dgm:resizeHandles val="exact"/>
        </dgm:presLayoutVars>
      </dgm:prSet>
      <dgm:spPr/>
    </dgm:pt>
    <dgm:pt modelId="{0BDCD426-09FB-402E-BB38-9E5CEF39E9DF}" type="pres">
      <dgm:prSet presAssocID="{B8B669DE-61BB-429C-B210-0CBD614C6DE4}" presName="compNode" presStyleCnt="0"/>
      <dgm:spPr/>
    </dgm:pt>
    <dgm:pt modelId="{D9E4A419-AAB6-42A5-9D9B-E56AF6465858}" type="pres">
      <dgm:prSet presAssocID="{B8B669DE-61BB-429C-B210-0CBD614C6DE4}" presName="iconBgRect" presStyleLbl="bgShp" presStyleIdx="0" presStyleCnt="5"/>
      <dgm:spPr/>
    </dgm:pt>
    <dgm:pt modelId="{BE015C36-AB7E-4476-816F-CDC0EB6E7034}" type="pres">
      <dgm:prSet presAssocID="{B8B669DE-61BB-429C-B210-0CBD614C6DE4}"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laying Cards"/>
        </a:ext>
      </dgm:extLst>
    </dgm:pt>
    <dgm:pt modelId="{A57250CF-2CC2-4950-9FEA-640E14BDEDCD}" type="pres">
      <dgm:prSet presAssocID="{B8B669DE-61BB-429C-B210-0CBD614C6DE4}" presName="spaceRect" presStyleCnt="0"/>
      <dgm:spPr/>
    </dgm:pt>
    <dgm:pt modelId="{9604096B-1C21-4CFA-8AEF-B3CBBB710B43}" type="pres">
      <dgm:prSet presAssocID="{B8B669DE-61BB-429C-B210-0CBD614C6DE4}" presName="textRect" presStyleLbl="revTx" presStyleIdx="0" presStyleCnt="5">
        <dgm:presLayoutVars>
          <dgm:chMax val="1"/>
          <dgm:chPref val="1"/>
        </dgm:presLayoutVars>
      </dgm:prSet>
      <dgm:spPr/>
    </dgm:pt>
    <dgm:pt modelId="{DEB342FF-8865-4078-86C9-8BAED4608249}" type="pres">
      <dgm:prSet presAssocID="{79D8B5D6-515D-4E36-95EC-10F934A98C44}" presName="sibTrans" presStyleCnt="0"/>
      <dgm:spPr/>
    </dgm:pt>
    <dgm:pt modelId="{99B2B13F-5485-4749-8441-A7056FD6A1ED}" type="pres">
      <dgm:prSet presAssocID="{690D6E15-41B8-415F-86DF-E12AD54ED287}" presName="compNode" presStyleCnt="0"/>
      <dgm:spPr/>
    </dgm:pt>
    <dgm:pt modelId="{603EFBF4-2FF8-4F3C-B9C9-9195CCD48223}" type="pres">
      <dgm:prSet presAssocID="{690D6E15-41B8-415F-86DF-E12AD54ED287}" presName="iconBgRect" presStyleLbl="bgShp" presStyleIdx="1" presStyleCnt="5"/>
      <dgm:spPr/>
    </dgm:pt>
    <dgm:pt modelId="{96114DE5-100A-4978-A1E5-DF6A47A25836}" type="pres">
      <dgm:prSet presAssocID="{690D6E15-41B8-415F-86DF-E12AD54ED287}"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2811A072-54D2-4EEB-99DD-B8D2BF34FFCC}" type="pres">
      <dgm:prSet presAssocID="{690D6E15-41B8-415F-86DF-E12AD54ED287}" presName="spaceRect" presStyleCnt="0"/>
      <dgm:spPr/>
    </dgm:pt>
    <dgm:pt modelId="{BCF19E96-8D10-49AD-8C5C-F8E7CAE112F9}" type="pres">
      <dgm:prSet presAssocID="{690D6E15-41B8-415F-86DF-E12AD54ED287}" presName="textRect" presStyleLbl="revTx" presStyleIdx="1" presStyleCnt="5">
        <dgm:presLayoutVars>
          <dgm:chMax val="1"/>
          <dgm:chPref val="1"/>
        </dgm:presLayoutVars>
      </dgm:prSet>
      <dgm:spPr/>
    </dgm:pt>
    <dgm:pt modelId="{03386CD2-53EE-4857-8062-705DA83038B2}" type="pres">
      <dgm:prSet presAssocID="{96F08B5E-8B9B-4BB7-8951-53BB1733E066}" presName="sibTrans" presStyleCnt="0"/>
      <dgm:spPr/>
    </dgm:pt>
    <dgm:pt modelId="{B9903860-B278-47DD-8352-D1E38B5A9A62}" type="pres">
      <dgm:prSet presAssocID="{6123F83D-3299-4F9A-9CA2-1CDE878B19F6}" presName="compNode" presStyleCnt="0"/>
      <dgm:spPr/>
    </dgm:pt>
    <dgm:pt modelId="{66256BA6-2E53-46EE-AD59-CFB6064D293D}" type="pres">
      <dgm:prSet presAssocID="{6123F83D-3299-4F9A-9CA2-1CDE878B19F6}" presName="iconBgRect" presStyleLbl="bgShp" presStyleIdx="2" presStyleCnt="5"/>
      <dgm:spPr/>
    </dgm:pt>
    <dgm:pt modelId="{EF8F201A-D488-42C7-B826-C8ED97FABBA6}" type="pres">
      <dgm:prSet presAssocID="{6123F83D-3299-4F9A-9CA2-1CDE878B19F6}"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Video camera"/>
        </a:ext>
      </dgm:extLst>
    </dgm:pt>
    <dgm:pt modelId="{56E09D71-D498-4625-AC9C-07A68D55A681}" type="pres">
      <dgm:prSet presAssocID="{6123F83D-3299-4F9A-9CA2-1CDE878B19F6}" presName="spaceRect" presStyleCnt="0"/>
      <dgm:spPr/>
    </dgm:pt>
    <dgm:pt modelId="{270BF1B2-1F41-4598-B00C-C7077EBCA75F}" type="pres">
      <dgm:prSet presAssocID="{6123F83D-3299-4F9A-9CA2-1CDE878B19F6}" presName="textRect" presStyleLbl="revTx" presStyleIdx="2" presStyleCnt="5">
        <dgm:presLayoutVars>
          <dgm:chMax val="1"/>
          <dgm:chPref val="1"/>
        </dgm:presLayoutVars>
      </dgm:prSet>
      <dgm:spPr/>
    </dgm:pt>
    <dgm:pt modelId="{8FC00748-9E3D-409B-8232-B839D9EDCFED}" type="pres">
      <dgm:prSet presAssocID="{33CF146F-26EE-4EC4-B839-481C933AD593}" presName="sibTrans" presStyleCnt="0"/>
      <dgm:spPr/>
    </dgm:pt>
    <dgm:pt modelId="{C8D7C7FB-B1B6-4B2A-8B09-3D666F06A144}" type="pres">
      <dgm:prSet presAssocID="{03E73A23-AB95-434B-9717-2ED8EA44DC6A}" presName="compNode" presStyleCnt="0"/>
      <dgm:spPr/>
    </dgm:pt>
    <dgm:pt modelId="{9C006D62-1A93-4FEB-B2DC-95B79FF28AFE}" type="pres">
      <dgm:prSet presAssocID="{03E73A23-AB95-434B-9717-2ED8EA44DC6A}" presName="iconBgRect" presStyleLbl="bgShp" presStyleIdx="3" presStyleCnt="5"/>
      <dgm:spPr/>
    </dgm:pt>
    <dgm:pt modelId="{0DF06E7E-2E17-4467-9152-227DD4EFE3AB}" type="pres">
      <dgm:prSet presAssocID="{03E73A23-AB95-434B-9717-2ED8EA44DC6A}"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6C0F345C-7773-434B-BBFB-E3E6D6501564}" type="pres">
      <dgm:prSet presAssocID="{03E73A23-AB95-434B-9717-2ED8EA44DC6A}" presName="spaceRect" presStyleCnt="0"/>
      <dgm:spPr/>
    </dgm:pt>
    <dgm:pt modelId="{2E376B97-3F27-44B3-BFF6-D6E0CC2FBE87}" type="pres">
      <dgm:prSet presAssocID="{03E73A23-AB95-434B-9717-2ED8EA44DC6A}" presName="textRect" presStyleLbl="revTx" presStyleIdx="3" presStyleCnt="5">
        <dgm:presLayoutVars>
          <dgm:chMax val="1"/>
          <dgm:chPref val="1"/>
        </dgm:presLayoutVars>
      </dgm:prSet>
      <dgm:spPr/>
    </dgm:pt>
    <dgm:pt modelId="{7A45EF55-0C94-415F-BE51-75685EC989A8}" type="pres">
      <dgm:prSet presAssocID="{17BFD1A8-C285-400C-B7D3-B781DA6762D3}" presName="sibTrans" presStyleCnt="0"/>
      <dgm:spPr/>
    </dgm:pt>
    <dgm:pt modelId="{B8A9E385-A352-4DE1-9FE2-2CF8739D2091}" type="pres">
      <dgm:prSet presAssocID="{69363A89-B1E7-40DA-9E3F-8A01CA0EAF54}" presName="compNode" presStyleCnt="0"/>
      <dgm:spPr/>
    </dgm:pt>
    <dgm:pt modelId="{B000BCF4-E49B-4107-A809-D329797CFC9F}" type="pres">
      <dgm:prSet presAssocID="{69363A89-B1E7-40DA-9E3F-8A01CA0EAF54}" presName="iconBgRect" presStyleLbl="bgShp" presStyleIdx="4" presStyleCnt="5"/>
      <dgm:spPr/>
    </dgm:pt>
    <dgm:pt modelId="{96930141-AF8C-4E06-AB82-0BEEFC97D483}" type="pres">
      <dgm:prSet presAssocID="{69363A89-B1E7-40DA-9E3F-8A01CA0EAF5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Questions"/>
        </a:ext>
      </dgm:extLst>
    </dgm:pt>
    <dgm:pt modelId="{796AD3F3-4052-4648-B094-BCCDB29D479D}" type="pres">
      <dgm:prSet presAssocID="{69363A89-B1E7-40DA-9E3F-8A01CA0EAF54}" presName="spaceRect" presStyleCnt="0"/>
      <dgm:spPr/>
    </dgm:pt>
    <dgm:pt modelId="{DB6ED3E2-AC1B-4B9F-B750-7A42910C03C6}" type="pres">
      <dgm:prSet presAssocID="{69363A89-B1E7-40DA-9E3F-8A01CA0EAF54}" presName="textRect" presStyleLbl="revTx" presStyleIdx="4" presStyleCnt="5">
        <dgm:presLayoutVars>
          <dgm:chMax val="1"/>
          <dgm:chPref val="1"/>
        </dgm:presLayoutVars>
      </dgm:prSet>
      <dgm:spPr/>
    </dgm:pt>
  </dgm:ptLst>
  <dgm:cxnLst>
    <dgm:cxn modelId="{C8D58F20-6B83-43D1-9975-B28A9B121500}" srcId="{91A4FBD5-D638-4F14-B612-DF7269D86D81}" destId="{690D6E15-41B8-415F-86DF-E12AD54ED287}" srcOrd="1" destOrd="0" parTransId="{CD7A92A9-8DD3-4190-AE63-D1E34F20ACEC}" sibTransId="{96F08B5E-8B9B-4BB7-8951-53BB1733E066}"/>
    <dgm:cxn modelId="{A968AB23-13D7-40C2-8FF9-5AADFD927CFB}" type="presOf" srcId="{69363A89-B1E7-40DA-9E3F-8A01CA0EAF54}" destId="{DB6ED3E2-AC1B-4B9F-B750-7A42910C03C6}" srcOrd="0" destOrd="0" presId="urn:microsoft.com/office/officeart/2018/5/layout/IconCircleLabelList"/>
    <dgm:cxn modelId="{1EF4F661-76E2-41DC-A2E8-1194CE76223A}" type="presOf" srcId="{03E73A23-AB95-434B-9717-2ED8EA44DC6A}" destId="{2E376B97-3F27-44B3-BFF6-D6E0CC2FBE87}" srcOrd="0" destOrd="0" presId="urn:microsoft.com/office/officeart/2018/5/layout/IconCircleLabelList"/>
    <dgm:cxn modelId="{D8E47754-A5A4-4B21-BB33-FF477D5D09A4}" srcId="{91A4FBD5-D638-4F14-B612-DF7269D86D81}" destId="{03E73A23-AB95-434B-9717-2ED8EA44DC6A}" srcOrd="3" destOrd="0" parTransId="{99498995-F673-438E-8170-A318D7C59E55}" sibTransId="{17BFD1A8-C285-400C-B7D3-B781DA6762D3}"/>
    <dgm:cxn modelId="{350FED77-1FDB-48D2-AC7F-45680DFBEDE2}" srcId="{91A4FBD5-D638-4F14-B612-DF7269D86D81}" destId="{6123F83D-3299-4F9A-9CA2-1CDE878B19F6}" srcOrd="2" destOrd="0" parTransId="{5FE0CDC6-7781-4512-99BE-CE2307BC9C01}" sibTransId="{33CF146F-26EE-4EC4-B839-481C933AD593}"/>
    <dgm:cxn modelId="{71B5FF93-BC95-4C68-A8EB-21DFC2F1DD71}" type="presOf" srcId="{B8B669DE-61BB-429C-B210-0CBD614C6DE4}" destId="{9604096B-1C21-4CFA-8AEF-B3CBBB710B43}" srcOrd="0" destOrd="0" presId="urn:microsoft.com/office/officeart/2018/5/layout/IconCircleLabelList"/>
    <dgm:cxn modelId="{1B2674A4-7CC1-45C2-A7BC-5C80EDD9F030}" type="presOf" srcId="{91A4FBD5-D638-4F14-B612-DF7269D86D81}" destId="{B1FCC358-1316-4A8A-A9A0-C40848002538}" srcOrd="0" destOrd="0" presId="urn:microsoft.com/office/officeart/2018/5/layout/IconCircleLabelList"/>
    <dgm:cxn modelId="{56F6AEC0-6B18-4D21-BA70-CC5D800DA702}" type="presOf" srcId="{6123F83D-3299-4F9A-9CA2-1CDE878B19F6}" destId="{270BF1B2-1F41-4598-B00C-C7077EBCA75F}" srcOrd="0" destOrd="0" presId="urn:microsoft.com/office/officeart/2018/5/layout/IconCircleLabelList"/>
    <dgm:cxn modelId="{6E9E33CB-8721-4E17-B7A5-1EE20887EA19}" srcId="{91A4FBD5-D638-4F14-B612-DF7269D86D81}" destId="{69363A89-B1E7-40DA-9E3F-8A01CA0EAF54}" srcOrd="4" destOrd="0" parTransId="{B2B76027-B4E4-4A55-B2E9-6BD9C52BB147}" sibTransId="{04F38060-8846-4802-81D3-9E9B920CBFA7}"/>
    <dgm:cxn modelId="{7FC538DC-C7C7-4061-990E-D5B7B7A599BA}" type="presOf" srcId="{690D6E15-41B8-415F-86DF-E12AD54ED287}" destId="{BCF19E96-8D10-49AD-8C5C-F8E7CAE112F9}" srcOrd="0" destOrd="0" presId="urn:microsoft.com/office/officeart/2018/5/layout/IconCircleLabelList"/>
    <dgm:cxn modelId="{67ABA4E2-F3F7-4937-9DBA-CB6BFFEDE627}" srcId="{91A4FBD5-D638-4F14-B612-DF7269D86D81}" destId="{B8B669DE-61BB-429C-B210-0CBD614C6DE4}" srcOrd="0" destOrd="0" parTransId="{33F037F4-1D9F-4906-8315-4981A6123AED}" sibTransId="{79D8B5D6-515D-4E36-95EC-10F934A98C44}"/>
    <dgm:cxn modelId="{A93BC959-DF74-43CD-8CD4-ECD82D858A44}" type="presParOf" srcId="{B1FCC358-1316-4A8A-A9A0-C40848002538}" destId="{0BDCD426-09FB-402E-BB38-9E5CEF39E9DF}" srcOrd="0" destOrd="0" presId="urn:microsoft.com/office/officeart/2018/5/layout/IconCircleLabelList"/>
    <dgm:cxn modelId="{D5FC6986-16E8-4CEE-B2FF-F33CABA2B9B5}" type="presParOf" srcId="{0BDCD426-09FB-402E-BB38-9E5CEF39E9DF}" destId="{D9E4A419-AAB6-42A5-9D9B-E56AF6465858}" srcOrd="0" destOrd="0" presId="urn:microsoft.com/office/officeart/2018/5/layout/IconCircleLabelList"/>
    <dgm:cxn modelId="{28CD6F86-3A35-46D2-BA16-E2ED8B23A368}" type="presParOf" srcId="{0BDCD426-09FB-402E-BB38-9E5CEF39E9DF}" destId="{BE015C36-AB7E-4476-816F-CDC0EB6E7034}" srcOrd="1" destOrd="0" presId="urn:microsoft.com/office/officeart/2018/5/layout/IconCircleLabelList"/>
    <dgm:cxn modelId="{AE8E0B97-3D16-4822-8E95-3A172E464111}" type="presParOf" srcId="{0BDCD426-09FB-402E-BB38-9E5CEF39E9DF}" destId="{A57250CF-2CC2-4950-9FEA-640E14BDEDCD}" srcOrd="2" destOrd="0" presId="urn:microsoft.com/office/officeart/2018/5/layout/IconCircleLabelList"/>
    <dgm:cxn modelId="{967080D5-3D87-4B72-9697-9EE840B7E0B7}" type="presParOf" srcId="{0BDCD426-09FB-402E-BB38-9E5CEF39E9DF}" destId="{9604096B-1C21-4CFA-8AEF-B3CBBB710B43}" srcOrd="3" destOrd="0" presId="urn:microsoft.com/office/officeart/2018/5/layout/IconCircleLabelList"/>
    <dgm:cxn modelId="{2E5AC96F-0BD6-4231-BE00-0185FD47A131}" type="presParOf" srcId="{B1FCC358-1316-4A8A-A9A0-C40848002538}" destId="{DEB342FF-8865-4078-86C9-8BAED4608249}" srcOrd="1" destOrd="0" presId="urn:microsoft.com/office/officeart/2018/5/layout/IconCircleLabelList"/>
    <dgm:cxn modelId="{A696F0DD-10BA-4FD3-82A9-7F0A20575338}" type="presParOf" srcId="{B1FCC358-1316-4A8A-A9A0-C40848002538}" destId="{99B2B13F-5485-4749-8441-A7056FD6A1ED}" srcOrd="2" destOrd="0" presId="urn:microsoft.com/office/officeart/2018/5/layout/IconCircleLabelList"/>
    <dgm:cxn modelId="{93C88AB4-2526-4CC3-869D-80639685CEF3}" type="presParOf" srcId="{99B2B13F-5485-4749-8441-A7056FD6A1ED}" destId="{603EFBF4-2FF8-4F3C-B9C9-9195CCD48223}" srcOrd="0" destOrd="0" presId="urn:microsoft.com/office/officeart/2018/5/layout/IconCircleLabelList"/>
    <dgm:cxn modelId="{E395023F-77E7-4821-8F72-1B3633A3B0FA}" type="presParOf" srcId="{99B2B13F-5485-4749-8441-A7056FD6A1ED}" destId="{96114DE5-100A-4978-A1E5-DF6A47A25836}" srcOrd="1" destOrd="0" presId="urn:microsoft.com/office/officeart/2018/5/layout/IconCircleLabelList"/>
    <dgm:cxn modelId="{18B09010-E6D8-45F8-8405-09B1D92E7896}" type="presParOf" srcId="{99B2B13F-5485-4749-8441-A7056FD6A1ED}" destId="{2811A072-54D2-4EEB-99DD-B8D2BF34FFCC}" srcOrd="2" destOrd="0" presId="urn:microsoft.com/office/officeart/2018/5/layout/IconCircleLabelList"/>
    <dgm:cxn modelId="{C596BED3-2965-4437-B84F-020D796B6920}" type="presParOf" srcId="{99B2B13F-5485-4749-8441-A7056FD6A1ED}" destId="{BCF19E96-8D10-49AD-8C5C-F8E7CAE112F9}" srcOrd="3" destOrd="0" presId="urn:microsoft.com/office/officeart/2018/5/layout/IconCircleLabelList"/>
    <dgm:cxn modelId="{5F65E287-9F90-4AF2-94E7-254C7ED8F040}" type="presParOf" srcId="{B1FCC358-1316-4A8A-A9A0-C40848002538}" destId="{03386CD2-53EE-4857-8062-705DA83038B2}" srcOrd="3" destOrd="0" presId="urn:microsoft.com/office/officeart/2018/5/layout/IconCircleLabelList"/>
    <dgm:cxn modelId="{EFC5FE66-8BC5-4546-88B8-6087596A49EF}" type="presParOf" srcId="{B1FCC358-1316-4A8A-A9A0-C40848002538}" destId="{B9903860-B278-47DD-8352-D1E38B5A9A62}" srcOrd="4" destOrd="0" presId="urn:microsoft.com/office/officeart/2018/5/layout/IconCircleLabelList"/>
    <dgm:cxn modelId="{1B1EF4F6-C11F-4458-88E2-63929C484C8B}" type="presParOf" srcId="{B9903860-B278-47DD-8352-D1E38B5A9A62}" destId="{66256BA6-2E53-46EE-AD59-CFB6064D293D}" srcOrd="0" destOrd="0" presId="urn:microsoft.com/office/officeart/2018/5/layout/IconCircleLabelList"/>
    <dgm:cxn modelId="{BF935D90-1F9A-4825-A51C-ECDFA9553603}" type="presParOf" srcId="{B9903860-B278-47DD-8352-D1E38B5A9A62}" destId="{EF8F201A-D488-42C7-B826-C8ED97FABBA6}" srcOrd="1" destOrd="0" presId="urn:microsoft.com/office/officeart/2018/5/layout/IconCircleLabelList"/>
    <dgm:cxn modelId="{E42E6CED-BE51-4964-9040-1E90D9F4C760}" type="presParOf" srcId="{B9903860-B278-47DD-8352-D1E38B5A9A62}" destId="{56E09D71-D498-4625-AC9C-07A68D55A681}" srcOrd="2" destOrd="0" presId="urn:microsoft.com/office/officeart/2018/5/layout/IconCircleLabelList"/>
    <dgm:cxn modelId="{6BB93A9E-C12F-4A00-BD0F-5CD36959B126}" type="presParOf" srcId="{B9903860-B278-47DD-8352-D1E38B5A9A62}" destId="{270BF1B2-1F41-4598-B00C-C7077EBCA75F}" srcOrd="3" destOrd="0" presId="urn:microsoft.com/office/officeart/2018/5/layout/IconCircleLabelList"/>
    <dgm:cxn modelId="{54F8EEE9-31E8-4301-A893-2432F3714D00}" type="presParOf" srcId="{B1FCC358-1316-4A8A-A9A0-C40848002538}" destId="{8FC00748-9E3D-409B-8232-B839D9EDCFED}" srcOrd="5" destOrd="0" presId="urn:microsoft.com/office/officeart/2018/5/layout/IconCircleLabelList"/>
    <dgm:cxn modelId="{B220710D-B3CE-4703-965B-20126A9BFC4A}" type="presParOf" srcId="{B1FCC358-1316-4A8A-A9A0-C40848002538}" destId="{C8D7C7FB-B1B6-4B2A-8B09-3D666F06A144}" srcOrd="6" destOrd="0" presId="urn:microsoft.com/office/officeart/2018/5/layout/IconCircleLabelList"/>
    <dgm:cxn modelId="{3256A3FB-C270-4482-8BD1-1E155570D247}" type="presParOf" srcId="{C8D7C7FB-B1B6-4B2A-8B09-3D666F06A144}" destId="{9C006D62-1A93-4FEB-B2DC-95B79FF28AFE}" srcOrd="0" destOrd="0" presId="urn:microsoft.com/office/officeart/2018/5/layout/IconCircleLabelList"/>
    <dgm:cxn modelId="{45E19F1E-91A8-4B47-AB05-2BFA9719A33C}" type="presParOf" srcId="{C8D7C7FB-B1B6-4B2A-8B09-3D666F06A144}" destId="{0DF06E7E-2E17-4467-9152-227DD4EFE3AB}" srcOrd="1" destOrd="0" presId="urn:microsoft.com/office/officeart/2018/5/layout/IconCircleLabelList"/>
    <dgm:cxn modelId="{094621FC-756E-4AB2-9CCC-BBA54F4BD496}" type="presParOf" srcId="{C8D7C7FB-B1B6-4B2A-8B09-3D666F06A144}" destId="{6C0F345C-7773-434B-BBFB-E3E6D6501564}" srcOrd="2" destOrd="0" presId="urn:microsoft.com/office/officeart/2018/5/layout/IconCircleLabelList"/>
    <dgm:cxn modelId="{4C7AE096-14E1-4F8D-AA48-E7684A6CC2FE}" type="presParOf" srcId="{C8D7C7FB-B1B6-4B2A-8B09-3D666F06A144}" destId="{2E376B97-3F27-44B3-BFF6-D6E0CC2FBE87}" srcOrd="3" destOrd="0" presId="urn:microsoft.com/office/officeart/2018/5/layout/IconCircleLabelList"/>
    <dgm:cxn modelId="{9E9589CE-1989-40E6-BD8A-6EB27C1CD6CA}" type="presParOf" srcId="{B1FCC358-1316-4A8A-A9A0-C40848002538}" destId="{7A45EF55-0C94-415F-BE51-75685EC989A8}" srcOrd="7" destOrd="0" presId="urn:microsoft.com/office/officeart/2018/5/layout/IconCircleLabelList"/>
    <dgm:cxn modelId="{E4B49EF8-5A69-4E3C-BCE5-F5EDAA0D81DB}" type="presParOf" srcId="{B1FCC358-1316-4A8A-A9A0-C40848002538}" destId="{B8A9E385-A352-4DE1-9FE2-2CF8739D2091}" srcOrd="8" destOrd="0" presId="urn:microsoft.com/office/officeart/2018/5/layout/IconCircleLabelList"/>
    <dgm:cxn modelId="{38A69047-B9A3-4052-B086-C94F5FE52CBC}" type="presParOf" srcId="{B8A9E385-A352-4DE1-9FE2-2CF8739D2091}" destId="{B000BCF4-E49B-4107-A809-D329797CFC9F}" srcOrd="0" destOrd="0" presId="urn:microsoft.com/office/officeart/2018/5/layout/IconCircleLabelList"/>
    <dgm:cxn modelId="{902771AB-7E42-4C8A-B0C3-7E3B69998A7C}" type="presParOf" srcId="{B8A9E385-A352-4DE1-9FE2-2CF8739D2091}" destId="{96930141-AF8C-4E06-AB82-0BEEFC97D483}" srcOrd="1" destOrd="0" presId="urn:microsoft.com/office/officeart/2018/5/layout/IconCircleLabelList"/>
    <dgm:cxn modelId="{E5334512-4E14-45FF-AC4B-39C61A9318E7}" type="presParOf" srcId="{B8A9E385-A352-4DE1-9FE2-2CF8739D2091}" destId="{796AD3F3-4052-4648-B094-BCCDB29D479D}" srcOrd="2" destOrd="0" presId="urn:microsoft.com/office/officeart/2018/5/layout/IconCircleLabelList"/>
    <dgm:cxn modelId="{FDE07FB0-FF1A-4B7D-9FD0-3853E0B692BF}" type="presParOf" srcId="{B8A9E385-A352-4DE1-9FE2-2CF8739D2091}" destId="{DB6ED3E2-AC1B-4B9F-B750-7A42910C03C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4A419-AAB6-42A5-9D9B-E56AF6465858}">
      <dsp:nvSpPr>
        <dsp:cNvPr id="0" name=""/>
        <dsp:cNvSpPr/>
      </dsp:nvSpPr>
      <dsp:spPr>
        <a:xfrm>
          <a:off x="316231" y="852867"/>
          <a:ext cx="982195" cy="98219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015C36-AB7E-4476-816F-CDC0EB6E7034}">
      <dsp:nvSpPr>
        <dsp:cNvPr id="0" name=""/>
        <dsp:cNvSpPr/>
      </dsp:nvSpPr>
      <dsp:spPr>
        <a:xfrm>
          <a:off x="525551" y="1062188"/>
          <a:ext cx="563554" cy="563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04096B-1C21-4CFA-8AEF-B3CBBB710B43}">
      <dsp:nvSpPr>
        <dsp:cNvPr id="0" name=""/>
        <dsp:cNvSpPr/>
      </dsp:nvSpPr>
      <dsp:spPr>
        <a:xfrm>
          <a:off x="2250" y="2140992"/>
          <a:ext cx="1610156" cy="1207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latin typeface="Century Schoolbook" panose="02040604050505020304"/>
            </a:rPr>
            <a:t>Background </a:t>
          </a:r>
          <a:r>
            <a:rPr lang="en-US" sz="1100" kern="1200">
              <a:latin typeface="Century Schoolbook" panose="02040604050505020304"/>
            </a:rPr>
            <a:t>- The</a:t>
          </a:r>
          <a:r>
            <a:rPr lang="en-US" sz="1100" kern="1200"/>
            <a:t> problems with current sports analytics systems.</a:t>
          </a:r>
        </a:p>
      </dsp:txBody>
      <dsp:txXfrm>
        <a:off x="2250" y="2140992"/>
        <a:ext cx="1610156" cy="1207617"/>
      </dsp:txXfrm>
    </dsp:sp>
    <dsp:sp modelId="{603EFBF4-2FF8-4F3C-B9C9-9195CCD48223}">
      <dsp:nvSpPr>
        <dsp:cNvPr id="0" name=""/>
        <dsp:cNvSpPr/>
      </dsp:nvSpPr>
      <dsp:spPr>
        <a:xfrm>
          <a:off x="2208164" y="852867"/>
          <a:ext cx="982195" cy="98219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114DE5-100A-4978-A1E5-DF6A47A25836}">
      <dsp:nvSpPr>
        <dsp:cNvPr id="0" name=""/>
        <dsp:cNvSpPr/>
      </dsp:nvSpPr>
      <dsp:spPr>
        <a:xfrm>
          <a:off x="2417485" y="1062188"/>
          <a:ext cx="563554" cy="563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CF19E96-8D10-49AD-8C5C-F8E7CAE112F9}">
      <dsp:nvSpPr>
        <dsp:cNvPr id="0" name=""/>
        <dsp:cNvSpPr/>
      </dsp:nvSpPr>
      <dsp:spPr>
        <a:xfrm>
          <a:off x="1894184" y="2140992"/>
          <a:ext cx="1610156" cy="1207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err="1"/>
            <a:t>SmartBall</a:t>
          </a:r>
          <a:r>
            <a:rPr lang="en-US" sz="1100" b="1" kern="1200"/>
            <a:t> System Overview</a:t>
          </a:r>
          <a:r>
            <a:rPr lang="en-US" sz="1100" kern="1200"/>
            <a:t> – Covering the system at a high level and then going more into detail in both software and hardware.</a:t>
          </a:r>
        </a:p>
      </dsp:txBody>
      <dsp:txXfrm>
        <a:off x="1894184" y="2140992"/>
        <a:ext cx="1610156" cy="1207617"/>
      </dsp:txXfrm>
    </dsp:sp>
    <dsp:sp modelId="{66256BA6-2E53-46EE-AD59-CFB6064D293D}">
      <dsp:nvSpPr>
        <dsp:cNvPr id="0" name=""/>
        <dsp:cNvSpPr/>
      </dsp:nvSpPr>
      <dsp:spPr>
        <a:xfrm>
          <a:off x="4100098" y="852867"/>
          <a:ext cx="982195" cy="98219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8F201A-D488-42C7-B826-C8ED97FABBA6}">
      <dsp:nvSpPr>
        <dsp:cNvPr id="0" name=""/>
        <dsp:cNvSpPr/>
      </dsp:nvSpPr>
      <dsp:spPr>
        <a:xfrm>
          <a:off x="4309418" y="1062188"/>
          <a:ext cx="563554" cy="563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0BF1B2-1F41-4598-B00C-C7077EBCA75F}">
      <dsp:nvSpPr>
        <dsp:cNvPr id="0" name=""/>
        <dsp:cNvSpPr/>
      </dsp:nvSpPr>
      <dsp:spPr>
        <a:xfrm>
          <a:off x="3786117" y="2140992"/>
          <a:ext cx="1610156" cy="1207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err="1"/>
            <a:t>SmartBall</a:t>
          </a:r>
          <a:r>
            <a:rPr lang="en-US" sz="1100" b="1" kern="1200"/>
            <a:t> Demo Video</a:t>
          </a:r>
        </a:p>
      </dsp:txBody>
      <dsp:txXfrm>
        <a:off x="3786117" y="2140992"/>
        <a:ext cx="1610156" cy="1207617"/>
      </dsp:txXfrm>
    </dsp:sp>
    <dsp:sp modelId="{9C006D62-1A93-4FEB-B2DC-95B79FF28AFE}">
      <dsp:nvSpPr>
        <dsp:cNvPr id="0" name=""/>
        <dsp:cNvSpPr/>
      </dsp:nvSpPr>
      <dsp:spPr>
        <a:xfrm>
          <a:off x="5992031" y="852867"/>
          <a:ext cx="982195" cy="98219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F06E7E-2E17-4467-9152-227DD4EFE3AB}">
      <dsp:nvSpPr>
        <dsp:cNvPr id="0" name=""/>
        <dsp:cNvSpPr/>
      </dsp:nvSpPr>
      <dsp:spPr>
        <a:xfrm>
          <a:off x="6201352" y="1062188"/>
          <a:ext cx="563554" cy="563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376B97-3F27-44B3-BFF6-D6E0CC2FBE87}">
      <dsp:nvSpPr>
        <dsp:cNvPr id="0" name=""/>
        <dsp:cNvSpPr/>
      </dsp:nvSpPr>
      <dsp:spPr>
        <a:xfrm>
          <a:off x="5678051" y="2140992"/>
          <a:ext cx="1610156" cy="1207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Results from Experimentation</a:t>
          </a:r>
        </a:p>
      </dsp:txBody>
      <dsp:txXfrm>
        <a:off x="5678051" y="2140992"/>
        <a:ext cx="1610156" cy="1207617"/>
      </dsp:txXfrm>
    </dsp:sp>
    <dsp:sp modelId="{B000BCF4-E49B-4107-A809-D329797CFC9F}">
      <dsp:nvSpPr>
        <dsp:cNvPr id="0" name=""/>
        <dsp:cNvSpPr/>
      </dsp:nvSpPr>
      <dsp:spPr>
        <a:xfrm>
          <a:off x="7883965" y="852867"/>
          <a:ext cx="982195" cy="982195"/>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930141-AF8C-4E06-AB82-0BEEFC97D483}">
      <dsp:nvSpPr>
        <dsp:cNvPr id="0" name=""/>
        <dsp:cNvSpPr/>
      </dsp:nvSpPr>
      <dsp:spPr>
        <a:xfrm>
          <a:off x="8093285" y="1062188"/>
          <a:ext cx="563554" cy="56355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6ED3E2-AC1B-4B9F-B750-7A42910C03C6}">
      <dsp:nvSpPr>
        <dsp:cNvPr id="0" name=""/>
        <dsp:cNvSpPr/>
      </dsp:nvSpPr>
      <dsp:spPr>
        <a:xfrm>
          <a:off x="7569985" y="2140992"/>
          <a:ext cx="1610156" cy="12076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a:t>Conclusion </a:t>
          </a:r>
          <a:r>
            <a:rPr lang="en-US" sz="1100" kern="1200"/>
            <a:t>– Discussing the limitations and future work on the </a:t>
          </a:r>
          <a:r>
            <a:rPr lang="en-US" sz="1100" kern="1200" err="1"/>
            <a:t>SmartBall</a:t>
          </a:r>
          <a:r>
            <a:rPr lang="en-US" sz="1100" kern="1200"/>
            <a:t> System</a:t>
          </a:r>
        </a:p>
      </dsp:txBody>
      <dsp:txXfrm>
        <a:off x="7569985" y="2140992"/>
        <a:ext cx="1610156" cy="120761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E1E1EF-7F74-4B66-A58B-F1B1DCE911EA}" type="datetimeFigureOut">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5A72C7-391A-43F9-BEB1-BE4896557E1C}" type="slidenum">
              <a:t>‹#›</a:t>
            </a:fld>
            <a:endParaRPr lang="en-US"/>
          </a:p>
        </p:txBody>
      </p:sp>
    </p:spTree>
    <p:extLst>
      <p:ext uri="{BB962C8B-B14F-4D97-AF65-F5344CB8AC3E}">
        <p14:creationId xmlns:p14="http://schemas.microsoft.com/office/powerpoint/2010/main" val="301426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ESP32 SECTION OF OVERVIEW :The </a:t>
            </a:r>
            <a:r>
              <a:rPr lang="en-US" dirty="0" err="1"/>
              <a:t>SmartBall</a:t>
            </a:r>
            <a:r>
              <a:rPr lang="en-US" dirty="0"/>
              <a:t> only sends sensor data whenever it detects a throw. This detection is based upon the event where enough force is applied on the ball and where enough spin is placed on the ball (&gt;18 m/s^2 and &gt;5 rad/s).</a:t>
            </a:r>
            <a:br>
              <a:rPr lang="en-US" dirty="0">
                <a:cs typeface="+mn-lt"/>
              </a:rPr>
            </a:br>
            <a:r>
              <a:rPr lang="en-US" dirty="0"/>
              <a:t>FOR LISTENER SECTION OF OVERVIEW : The listener also logs all data it gathers from each throw automatically into a CSV file where it can be analyzed later as historical data.</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05A72C7-391A-43F9-BEB1-BE4896557E1C}" type="slidenum">
              <a:rPr lang="en-US"/>
              <a:t>6</a:t>
            </a:fld>
            <a:endParaRPr lang="en-US"/>
          </a:p>
        </p:txBody>
      </p:sp>
    </p:spTree>
    <p:extLst>
      <p:ext uri="{BB962C8B-B14F-4D97-AF65-F5344CB8AC3E}">
        <p14:creationId xmlns:p14="http://schemas.microsoft.com/office/powerpoint/2010/main" val="180111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the sample count is checked to ensure that there is enough data present in the received packets for computations.</a:t>
            </a:r>
          </a:p>
          <a:p>
            <a:endParaRPr lang="en-US"/>
          </a:p>
          <a:p>
            <a:r>
              <a:rPr lang="en-US"/>
              <a:t>Then the timestamp, accelerometer, and gyroscope values are converted to array format.</a:t>
            </a:r>
          </a:p>
          <a:p>
            <a:endParaRPr lang="en-US"/>
          </a:p>
          <a:p>
            <a:r>
              <a:rPr lang="en-US"/>
              <a:t>The timestamp is analyzed in seconds to estimate the duration of the throw sample.</a:t>
            </a:r>
          </a:p>
          <a:p>
            <a:endParaRPr lang="en-US"/>
          </a:p>
          <a:p>
            <a:r>
              <a:rPr lang="en-US"/>
              <a:t>The motion magnitudes for acceleration and rotation are computed to extract the peak acceleration and peak rotation.</a:t>
            </a:r>
          </a:p>
          <a:p>
            <a:endParaRPr lang="en-US"/>
          </a:p>
          <a:p>
            <a:r>
              <a:rPr lang="en-US"/>
              <a:t>Pre-throw stability (in regards to whether the ball was rotating before release) and gravity magnitude and direction are computed from the packets preceding those sent after release. A warning is issued for poor stability prior to release, and gravitational force is subtracted from the ball acceleration during the throw.</a:t>
            </a:r>
          </a:p>
          <a:p>
            <a:endParaRPr lang="en-US"/>
          </a:p>
          <a:p>
            <a:r>
              <a:rPr lang="en-US"/>
              <a:t>The moment of release is detected in the first sustained drop in acceleration magnitude to below about 65% of the force of gravity. The ball has transitioned form user-applied force to freefall.</a:t>
            </a:r>
          </a:p>
          <a:p>
            <a:endParaRPr lang="en-US"/>
          </a:p>
          <a:p>
            <a:r>
              <a:rPr lang="en-US"/>
              <a:t>The release timing is validated to reject throws with unreasonable release position and timing. A bad status is issued for throws where the release occurs within the calibration window (~first 0.15 seconds), within the last 10% of received packets, or if the release happens after the first 0.95 seconds (this means that the system may have recorded an unreliable sample).</a:t>
            </a:r>
          </a:p>
          <a:p>
            <a:endParaRPr lang="en-US"/>
          </a:p>
          <a:p>
            <a:r>
              <a:rPr lang="en-US"/>
              <a:t>The release speed is computed by taking the magnitude of the velocity vector, and validated to account for unreasonable values.</a:t>
            </a:r>
          </a:p>
          <a:p>
            <a:endParaRPr lang="en-US"/>
          </a:p>
          <a:p>
            <a:r>
              <a:rPr lang="en-US"/>
              <a:t>The throw distance is estimated using the calibrated quadratic model based on speed.</a:t>
            </a:r>
          </a:p>
          <a:p>
            <a:endParaRPr lang="en-US"/>
          </a:p>
          <a:p>
            <a:r>
              <a:rPr lang="en-US"/>
              <a:t>Using the predetermined thresholds, we classify the throw as weak, medium or strong. We print the results to the output and log them in a CSV file.</a:t>
            </a:r>
          </a:p>
        </p:txBody>
      </p:sp>
      <p:sp>
        <p:nvSpPr>
          <p:cNvPr id="4" name="Slide Number Placeholder 3"/>
          <p:cNvSpPr>
            <a:spLocks noGrp="1"/>
          </p:cNvSpPr>
          <p:nvPr>
            <p:ph type="sldNum" sz="quarter" idx="5"/>
          </p:nvPr>
        </p:nvSpPr>
        <p:spPr/>
        <p:txBody>
          <a:bodyPr/>
          <a:lstStyle/>
          <a:p>
            <a:fld id="{A05A72C7-391A-43F9-BEB1-BE4896557E1C}" type="slidenum">
              <a:rPr lang="en-US" smtClean="0"/>
              <a:t>7</a:t>
            </a:fld>
            <a:endParaRPr lang="en-US"/>
          </a:p>
        </p:txBody>
      </p:sp>
    </p:spTree>
    <p:extLst>
      <p:ext uri="{BB962C8B-B14F-4D97-AF65-F5344CB8AC3E}">
        <p14:creationId xmlns:p14="http://schemas.microsoft.com/office/powerpoint/2010/main" val="1606790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 smooth the acceleration by averaging all adjacent packets.</a:t>
            </a:r>
          </a:p>
          <a:p>
            <a:endParaRPr lang="en-US"/>
          </a:p>
          <a:p>
            <a:r>
              <a:rPr lang="en-US"/>
              <a:t>Then we convert the time threshold for freefall acceleration into an exact number of samples.</a:t>
            </a:r>
          </a:p>
          <a:p>
            <a:endParaRPr lang="en-US"/>
          </a:p>
          <a:p>
            <a:r>
              <a:rPr lang="en-US"/>
              <a:t>The loop finds the first low acceleration packet, and checks whether low acceleration is sustained in following packets, this tells us if the ball is in freefall.</a:t>
            </a:r>
          </a:p>
          <a:p>
            <a:endParaRPr lang="en-US"/>
          </a:p>
          <a:p>
            <a:r>
              <a:rPr lang="en-US"/>
              <a:t>The difference between adjacent samples is computed, and the sharpest drop in acceleration is returned as the detected release point.</a:t>
            </a:r>
          </a:p>
          <a:p>
            <a:endParaRPr lang="en-US"/>
          </a:p>
          <a:p>
            <a:r>
              <a:rPr lang="en-US"/>
              <a:t>Then the sample corresponding to that release point is found and its timestamp is taken as the release time.</a:t>
            </a:r>
          </a:p>
        </p:txBody>
      </p:sp>
      <p:sp>
        <p:nvSpPr>
          <p:cNvPr id="4" name="Slide Number Placeholder 3"/>
          <p:cNvSpPr>
            <a:spLocks noGrp="1"/>
          </p:cNvSpPr>
          <p:nvPr>
            <p:ph type="sldNum" sz="quarter" idx="5"/>
          </p:nvPr>
        </p:nvSpPr>
        <p:spPr/>
        <p:txBody>
          <a:bodyPr/>
          <a:lstStyle/>
          <a:p>
            <a:fld id="{A05A72C7-391A-43F9-BEB1-BE4896557E1C}" type="slidenum">
              <a:rPr lang="en-US" smtClean="0"/>
              <a:t>8</a:t>
            </a:fld>
            <a:endParaRPr lang="en-US"/>
          </a:p>
        </p:txBody>
      </p:sp>
    </p:spTree>
    <p:extLst>
      <p:ext uri="{BB962C8B-B14F-4D97-AF65-F5344CB8AC3E}">
        <p14:creationId xmlns:p14="http://schemas.microsoft.com/office/powerpoint/2010/main" val="4007462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 convert the integration window from seconds to the number of corresponding samples and set the starting index.</a:t>
            </a:r>
            <a:br>
              <a:rPr lang="en-US"/>
            </a:br>
            <a:endParaRPr lang="en-US"/>
          </a:p>
          <a:p>
            <a:r>
              <a:rPr lang="en-US"/>
              <a:t>We initialize the velocity vector to zero.</a:t>
            </a:r>
          </a:p>
          <a:p>
            <a:endParaRPr lang="en-US"/>
          </a:p>
          <a:p>
            <a:r>
              <a:rPr lang="en-US"/>
              <a:t>The loop runs across samples just before release to compute the time taken, and updates the velocity. The trapezoidal numerical integration averages two neighboring samples for better accuracy.</a:t>
            </a:r>
          </a:p>
          <a:p>
            <a:endParaRPr lang="en-US"/>
          </a:p>
          <a:p>
            <a:r>
              <a:rPr lang="en-US"/>
              <a:t>Finally we compute the magnitude of the resulting velocity vector to get the speed at release.</a:t>
            </a:r>
          </a:p>
        </p:txBody>
      </p:sp>
      <p:sp>
        <p:nvSpPr>
          <p:cNvPr id="4" name="Slide Number Placeholder 3"/>
          <p:cNvSpPr>
            <a:spLocks noGrp="1"/>
          </p:cNvSpPr>
          <p:nvPr>
            <p:ph type="sldNum" sz="quarter" idx="5"/>
          </p:nvPr>
        </p:nvSpPr>
        <p:spPr/>
        <p:txBody>
          <a:bodyPr/>
          <a:lstStyle/>
          <a:p>
            <a:fld id="{A05A72C7-391A-43F9-BEB1-BE4896557E1C}" type="slidenum">
              <a:rPr lang="en-US" smtClean="0"/>
              <a:t>9</a:t>
            </a:fld>
            <a:endParaRPr lang="en-US"/>
          </a:p>
        </p:txBody>
      </p:sp>
    </p:spTree>
    <p:extLst>
      <p:ext uri="{BB962C8B-B14F-4D97-AF65-F5344CB8AC3E}">
        <p14:creationId xmlns:p14="http://schemas.microsoft.com/office/powerpoint/2010/main" val="246403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both acceleration and rotation: values from all three axes are combined, and the largest vector is taken.</a:t>
            </a:r>
          </a:p>
        </p:txBody>
      </p:sp>
      <p:sp>
        <p:nvSpPr>
          <p:cNvPr id="4" name="Slide Number Placeholder 3"/>
          <p:cNvSpPr>
            <a:spLocks noGrp="1"/>
          </p:cNvSpPr>
          <p:nvPr>
            <p:ph type="sldNum" sz="quarter" idx="5"/>
          </p:nvPr>
        </p:nvSpPr>
        <p:spPr/>
        <p:txBody>
          <a:bodyPr/>
          <a:lstStyle/>
          <a:p>
            <a:fld id="{A05A72C7-391A-43F9-BEB1-BE4896557E1C}" type="slidenum">
              <a:rPr lang="en-US" smtClean="0"/>
              <a:t>10</a:t>
            </a:fld>
            <a:endParaRPr lang="en-US"/>
          </a:p>
        </p:txBody>
      </p:sp>
    </p:spTree>
    <p:extLst>
      <p:ext uri="{BB962C8B-B14F-4D97-AF65-F5344CB8AC3E}">
        <p14:creationId xmlns:p14="http://schemas.microsoft.com/office/powerpoint/2010/main" val="226312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calibrated distance prediction.</a:t>
            </a:r>
          </a:p>
        </p:txBody>
      </p:sp>
      <p:sp>
        <p:nvSpPr>
          <p:cNvPr id="4" name="Slide Number Placeholder 3"/>
          <p:cNvSpPr>
            <a:spLocks noGrp="1"/>
          </p:cNvSpPr>
          <p:nvPr>
            <p:ph type="sldNum" sz="quarter" idx="5"/>
          </p:nvPr>
        </p:nvSpPr>
        <p:spPr/>
        <p:txBody>
          <a:bodyPr/>
          <a:lstStyle/>
          <a:p>
            <a:fld id="{A05A72C7-391A-43F9-BEB1-BE4896557E1C}" type="slidenum">
              <a:rPr lang="en-US" smtClean="0"/>
              <a:t>11</a:t>
            </a:fld>
            <a:endParaRPr lang="en-US"/>
          </a:p>
        </p:txBody>
      </p:sp>
    </p:spTree>
    <p:extLst>
      <p:ext uri="{BB962C8B-B14F-4D97-AF65-F5344CB8AC3E}">
        <p14:creationId xmlns:p14="http://schemas.microsoft.com/office/powerpoint/2010/main" val="3774828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reason why the negative terminal is switched is to allow for simple removal of the battery from the circuit within the ball to be able to charge it. The TP4056 requires a soldered connection which would require soldering and de-soldering each time a charge is needed the switched-negative terminal fixes this issue.</a:t>
            </a:r>
          </a:p>
        </p:txBody>
      </p:sp>
      <p:sp>
        <p:nvSpPr>
          <p:cNvPr id="4" name="Slide Number Placeholder 3"/>
          <p:cNvSpPr>
            <a:spLocks noGrp="1"/>
          </p:cNvSpPr>
          <p:nvPr>
            <p:ph type="sldNum" sz="quarter" idx="5"/>
          </p:nvPr>
        </p:nvSpPr>
        <p:spPr/>
        <p:txBody>
          <a:bodyPr/>
          <a:lstStyle/>
          <a:p>
            <a:fld id="{A05A72C7-391A-43F9-BEB1-BE4896557E1C}" type="slidenum">
              <a:t>11</a:t>
            </a:fld>
            <a:endParaRPr lang="en-US"/>
          </a:p>
        </p:txBody>
      </p:sp>
    </p:spTree>
    <p:extLst>
      <p:ext uri="{BB962C8B-B14F-4D97-AF65-F5344CB8AC3E}">
        <p14:creationId xmlns:p14="http://schemas.microsoft.com/office/powerpoint/2010/main" val="685618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system with 38 valid throws in a controlled setup. On average, the estimated distance was within about 3.7% of the true distance. This shows that our calibrated velocity-based model produced consistent and accurate results in a repeatable environment.</a:t>
            </a:r>
          </a:p>
        </p:txBody>
      </p:sp>
      <p:sp>
        <p:nvSpPr>
          <p:cNvPr id="4" name="Slide Number Placeholder 3"/>
          <p:cNvSpPr>
            <a:spLocks noGrp="1"/>
          </p:cNvSpPr>
          <p:nvPr>
            <p:ph type="sldNum" sz="quarter" idx="5"/>
          </p:nvPr>
        </p:nvSpPr>
        <p:spPr/>
        <p:txBody>
          <a:bodyPr/>
          <a:lstStyle/>
          <a:p>
            <a:fld id="{A05A72C7-391A-43F9-BEB1-BE4896557E1C}" type="slidenum">
              <a:rPr lang="en-US"/>
              <a:t>15</a:t>
            </a:fld>
            <a:endParaRPr lang="en-US"/>
          </a:p>
        </p:txBody>
      </p:sp>
    </p:spTree>
    <p:extLst>
      <p:ext uri="{BB962C8B-B14F-4D97-AF65-F5344CB8AC3E}">
        <p14:creationId xmlns:p14="http://schemas.microsoft.com/office/powerpoint/2010/main" val="33757329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SmartBall</a:t>
            </a:r>
            <a:r>
              <a:rPr lang="en-US" dirty="0"/>
              <a:t> demonstrates that low-cost embedded hardware can be used to capture and analyze sports motion data in real time. While full trajectory estimation is limited, our calibrated model achieved about 4% distance accuracy in a controlled setup. This shows strong potential for portable and accessible sports analytics systems moving forward.</a:t>
            </a:r>
          </a:p>
        </p:txBody>
      </p:sp>
      <p:sp>
        <p:nvSpPr>
          <p:cNvPr id="4" name="Slide Number Placeholder 3"/>
          <p:cNvSpPr>
            <a:spLocks noGrp="1"/>
          </p:cNvSpPr>
          <p:nvPr>
            <p:ph type="sldNum" sz="quarter" idx="5"/>
          </p:nvPr>
        </p:nvSpPr>
        <p:spPr/>
        <p:txBody>
          <a:bodyPr/>
          <a:lstStyle/>
          <a:p>
            <a:fld id="{A05A72C7-391A-43F9-BEB1-BE4896557E1C}" type="slidenum">
              <a:rPr lang="en-US"/>
              <a:t>18</a:t>
            </a:fld>
            <a:endParaRPr lang="en-US"/>
          </a:p>
        </p:txBody>
      </p:sp>
    </p:spTree>
    <p:extLst>
      <p:ext uri="{BB962C8B-B14F-4D97-AF65-F5344CB8AC3E}">
        <p14:creationId xmlns:p14="http://schemas.microsoft.com/office/powerpoint/2010/main" val="3267522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4/14/2026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387174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C94063-DF36-4330-A365-08DA1FA5B7D6}" type="datetimeFigureOut">
              <a:rPr lang="en-US" dirty="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8907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4002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CFA4AC-08CC-42CE-BD01-C191750A04EC}" type="datetimeFigureOut">
              <a:rPr lang="en-US" dirty="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98083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A7A723-92A7-435B-B681-F25B092FEFEB}" type="datetimeFigureOut">
              <a:rPr lang="en-US" dirty="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55575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170639-886C-4FCF-9EAB-ABB5DA3F3F4A}" type="datetimeFigureOut">
              <a:rPr lang="en-US" dirty="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78360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59292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87266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blipFill>
            <a:blip r:embed="rId2"/>
            <a:stretch>
              <a:fillRect/>
            </a:stretch>
          </a:blip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541876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33E54A-A8CA-48C1-9504-691B58049D29}" type="datetimeFigureOut">
              <a:rPr lang="en-US" dirty="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17352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6C806-BBF7-471C-9527-881CE2266695}" type="datetimeFigureOut">
              <a:rPr lang="en-US" dirty="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738213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4/14/2026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4003074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video" Target="https://www.youtube.com/embed/V68r1uKkg60?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0" y="994410"/>
            <a:ext cx="10358449" cy="3650528"/>
          </a:xfrm>
        </p:spPr>
        <p:txBody>
          <a:bodyPr>
            <a:normAutofit fontScale="90000"/>
          </a:bodyPr>
          <a:lstStyle/>
          <a:p>
            <a:pPr>
              <a:lnSpc>
                <a:spcPct val="100000"/>
              </a:lnSpc>
            </a:pPr>
            <a:r>
              <a:rPr lang="en-US"/>
              <a:t>Undergraduate Group 1</a:t>
            </a:r>
            <a:br>
              <a:rPr lang="en-US"/>
            </a:br>
            <a:br>
              <a:rPr lang="en-US"/>
            </a:br>
            <a:r>
              <a:rPr lang="en-US"/>
              <a:t>The </a:t>
            </a:r>
            <a:r>
              <a:rPr lang="en-US" err="1"/>
              <a:t>SmartBall</a:t>
            </a:r>
            <a:br>
              <a:rPr lang="en-US"/>
            </a:br>
            <a:r>
              <a:rPr lang="en-US" sz="3600"/>
              <a:t>Wireless &amp; Mobile Computing Final Project</a:t>
            </a:r>
          </a:p>
        </p:txBody>
      </p:sp>
      <p:sp>
        <p:nvSpPr>
          <p:cNvPr id="3" name="Subtitle 2"/>
          <p:cNvSpPr>
            <a:spLocks noGrp="1"/>
          </p:cNvSpPr>
          <p:nvPr>
            <p:ph type="subTitle" idx="1"/>
          </p:nvPr>
        </p:nvSpPr>
        <p:spPr>
          <a:xfrm>
            <a:off x="1261870" y="5715000"/>
            <a:ext cx="10358449" cy="1143000"/>
          </a:xfrm>
        </p:spPr>
        <p:txBody>
          <a:bodyPr vert="horz" lIns="91440" tIns="45720" rIns="91440" bIns="45720" rtlCol="0" anchor="t">
            <a:normAutofit/>
          </a:bodyPr>
          <a:lstStyle/>
          <a:p>
            <a:r>
              <a:rPr lang="en-US"/>
              <a:t>Jacob Moran, Anthony Lozbin, </a:t>
            </a:r>
            <a:r>
              <a:rPr lang="en-US" err="1"/>
              <a:t>Pritkumar</a:t>
            </a:r>
            <a:r>
              <a:rPr lang="en-US"/>
              <a:t> </a:t>
            </a:r>
            <a:r>
              <a:rPr lang="en-US" err="1"/>
              <a:t>Pagda</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04EC5-F5D0-F444-B79F-6AC1E6181977}"/>
              </a:ext>
            </a:extLst>
          </p:cNvPr>
          <p:cNvSpPr>
            <a:spLocks noGrp="1"/>
          </p:cNvSpPr>
          <p:nvPr>
            <p:ph type="title"/>
          </p:nvPr>
        </p:nvSpPr>
        <p:spPr>
          <a:xfrm>
            <a:off x="1261872" y="365760"/>
            <a:ext cx="9692640" cy="1325562"/>
          </a:xfrm>
        </p:spPr>
        <p:txBody>
          <a:bodyPr>
            <a:normAutofit/>
          </a:bodyPr>
          <a:lstStyle/>
          <a:p>
            <a:r>
              <a:rPr lang="en-US"/>
              <a:t>Presentation Overview</a:t>
            </a:r>
          </a:p>
        </p:txBody>
      </p:sp>
      <p:graphicFrame>
        <p:nvGraphicFramePr>
          <p:cNvPr id="5" name="Content Placeholder 2">
            <a:extLst>
              <a:ext uri="{FF2B5EF4-FFF2-40B4-BE49-F238E27FC236}">
                <a16:creationId xmlns:a16="http://schemas.microsoft.com/office/drawing/2014/main" id="{46BFDAE1-6031-42F3-55D2-2892153E8D03}"/>
              </a:ext>
            </a:extLst>
          </p:cNvPr>
          <p:cNvGraphicFramePr>
            <a:graphicFrameLocks noGrp="1"/>
          </p:cNvGraphicFramePr>
          <p:nvPr>
            <p:ph idx="1"/>
            <p:extLst>
              <p:ext uri="{D42A27DB-BD31-4B8C-83A1-F6EECF244321}">
                <p14:modId xmlns:p14="http://schemas.microsoft.com/office/powerpoint/2010/main" val="3066118003"/>
              </p:ext>
            </p:extLst>
          </p:nvPr>
        </p:nvGraphicFramePr>
        <p:xfrm>
          <a:off x="1262063" y="2013055"/>
          <a:ext cx="9182392"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145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B62BB-F3CE-F315-79F2-0003EB69F7BF}"/>
              </a:ext>
            </a:extLst>
          </p:cNvPr>
          <p:cNvSpPr>
            <a:spLocks noGrp="1"/>
          </p:cNvSpPr>
          <p:nvPr>
            <p:ph type="title"/>
          </p:nvPr>
        </p:nvSpPr>
        <p:spPr>
          <a:xfrm>
            <a:off x="1261872" y="365760"/>
            <a:ext cx="9692640" cy="1325562"/>
          </a:xfrm>
        </p:spPr>
        <p:txBody>
          <a:bodyPr>
            <a:normAutofit/>
          </a:bodyPr>
          <a:lstStyle/>
          <a:p>
            <a:r>
              <a:rPr lang="en-US"/>
              <a:t>Problem Statement</a:t>
            </a:r>
          </a:p>
        </p:txBody>
      </p:sp>
      <p:sp>
        <p:nvSpPr>
          <p:cNvPr id="3" name="Content Placeholder 2">
            <a:extLst>
              <a:ext uri="{FF2B5EF4-FFF2-40B4-BE49-F238E27FC236}">
                <a16:creationId xmlns:a16="http://schemas.microsoft.com/office/drawing/2014/main" id="{54C792D0-F223-FAEE-D199-B1F59BA84632}"/>
              </a:ext>
            </a:extLst>
          </p:cNvPr>
          <p:cNvSpPr>
            <a:spLocks noGrp="1"/>
          </p:cNvSpPr>
          <p:nvPr>
            <p:ph idx="1"/>
          </p:nvPr>
        </p:nvSpPr>
        <p:spPr>
          <a:xfrm>
            <a:off x="1261872" y="1933575"/>
            <a:ext cx="4401509" cy="4246562"/>
          </a:xfrm>
        </p:spPr>
        <p:txBody>
          <a:bodyPr vert="horz" lIns="91440" tIns="45720" rIns="91440" bIns="45720" rtlCol="0" anchor="t">
            <a:normAutofit/>
          </a:bodyPr>
          <a:lstStyle/>
          <a:p>
            <a:r>
              <a:rPr lang="en-US" sz="1500"/>
              <a:t>Traditional sports analytical data gathering systems have various problems that our </a:t>
            </a:r>
            <a:r>
              <a:rPr lang="en-US" sz="1500" err="1"/>
              <a:t>SmartBall</a:t>
            </a:r>
            <a:r>
              <a:rPr lang="en-US" sz="1500"/>
              <a:t> system attempts to address.</a:t>
            </a:r>
          </a:p>
          <a:p>
            <a:pPr lvl="1">
              <a:buFont typeface="Courier New" pitchFamily="34" charset="0"/>
              <a:buChar char="o"/>
            </a:pPr>
            <a:r>
              <a:rPr lang="en-US" sz="1500" b="1" spc="10"/>
              <a:t>Complexity </a:t>
            </a:r>
            <a:r>
              <a:rPr lang="en-US" sz="1500" spc="10"/>
              <a:t>– Across various professional sports, the systems in place to gather sports analytical data are very complex requiring many people and time to setup properly.</a:t>
            </a:r>
          </a:p>
          <a:p>
            <a:pPr lvl="1">
              <a:buFont typeface="Courier New" pitchFamily="34" charset="0"/>
              <a:buChar char="o"/>
            </a:pPr>
            <a:r>
              <a:rPr lang="en-US" sz="1500" b="1" spc="10"/>
              <a:t>Cost </a:t>
            </a:r>
            <a:r>
              <a:rPr lang="en-US" sz="1500" spc="10"/>
              <a:t>– These traditional analytical systems rely heavily on expensive radar(s) placed around a playing field to obtain the data they need, introducing a large </a:t>
            </a:r>
            <a:r>
              <a:rPr lang="en-US" sz="1500" spc="10">
                <a:ea typeface="+mn-lt"/>
                <a:cs typeface="+mn-lt"/>
              </a:rPr>
              <a:t>financial </a:t>
            </a:r>
            <a:r>
              <a:rPr lang="en-US" sz="1500" spc="10"/>
              <a:t>hurdle.</a:t>
            </a:r>
          </a:p>
          <a:p>
            <a:pPr lvl="1">
              <a:buFont typeface="Courier New" pitchFamily="34" charset="0"/>
              <a:buChar char="o"/>
            </a:pPr>
            <a:r>
              <a:rPr lang="en-US" sz="1500" b="1" spc="10"/>
              <a:t>Immovability </a:t>
            </a:r>
            <a:r>
              <a:rPr lang="en-US" sz="1500" spc="10"/>
              <a:t>– These systems are usually immobile and set in specific places around a playing field, reducing the areas in which analytical data could be gathered.</a:t>
            </a:r>
          </a:p>
        </p:txBody>
      </p:sp>
      <p:pic>
        <p:nvPicPr>
          <p:cNvPr id="7" name="Graphic 6" descr="Sport Balls">
            <a:extLst>
              <a:ext uri="{FF2B5EF4-FFF2-40B4-BE49-F238E27FC236}">
                <a16:creationId xmlns:a16="http://schemas.microsoft.com/office/drawing/2014/main" id="{AC20D5F9-1F4B-0514-471A-3EF9B7BF48A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79706" y="1933575"/>
            <a:ext cx="3639872" cy="3639872"/>
          </a:xfrm>
          <a:prstGeom prst="rect">
            <a:avLst/>
          </a:prstGeom>
        </p:spPr>
      </p:pic>
    </p:spTree>
    <p:extLst>
      <p:ext uri="{BB962C8B-B14F-4D97-AF65-F5344CB8AC3E}">
        <p14:creationId xmlns:p14="http://schemas.microsoft.com/office/powerpoint/2010/main" val="340742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62F10-69ED-859C-EB58-A00F61738097}"/>
              </a:ext>
            </a:extLst>
          </p:cNvPr>
          <p:cNvSpPr>
            <a:spLocks noGrp="1"/>
          </p:cNvSpPr>
          <p:nvPr>
            <p:ph type="title"/>
          </p:nvPr>
        </p:nvSpPr>
        <p:spPr/>
        <p:txBody>
          <a:bodyPr/>
          <a:lstStyle/>
          <a:p>
            <a:r>
              <a:rPr lang="en-US"/>
              <a:t>Our Solution – The </a:t>
            </a:r>
            <a:r>
              <a:rPr lang="en-US" err="1"/>
              <a:t>SmartBall</a:t>
            </a:r>
          </a:p>
        </p:txBody>
      </p:sp>
      <p:sp>
        <p:nvSpPr>
          <p:cNvPr id="3" name="Content Placeholder 2">
            <a:extLst>
              <a:ext uri="{FF2B5EF4-FFF2-40B4-BE49-F238E27FC236}">
                <a16:creationId xmlns:a16="http://schemas.microsoft.com/office/drawing/2014/main" id="{536B3895-2893-9F15-A6AA-CD6B35F4EDA7}"/>
              </a:ext>
            </a:extLst>
          </p:cNvPr>
          <p:cNvSpPr>
            <a:spLocks noGrp="1"/>
          </p:cNvSpPr>
          <p:nvPr>
            <p:ph sz="half" idx="1"/>
          </p:nvPr>
        </p:nvSpPr>
        <p:spPr/>
        <p:txBody>
          <a:bodyPr vert="horz" lIns="91440" tIns="45720" rIns="91440" bIns="45720" rtlCol="0" anchor="t">
            <a:normAutofit/>
          </a:bodyPr>
          <a:lstStyle/>
          <a:p>
            <a:r>
              <a:rPr lang="en-US"/>
              <a:t>The </a:t>
            </a:r>
            <a:r>
              <a:rPr lang="en-US" err="1"/>
              <a:t>SmartBall</a:t>
            </a:r>
            <a:r>
              <a:rPr lang="en-US"/>
              <a:t> is a sensor and communication-equipped game ball that obtains sports analytics data and communicates it to a mobile base station.</a:t>
            </a:r>
          </a:p>
          <a:p>
            <a:r>
              <a:rPr lang="en-US"/>
              <a:t>The </a:t>
            </a:r>
            <a:r>
              <a:rPr lang="en-US" err="1"/>
              <a:t>SmartBall</a:t>
            </a:r>
            <a:r>
              <a:rPr lang="en-US"/>
              <a:t> significantly reduces cost compared to traditional radar systems.</a:t>
            </a:r>
          </a:p>
          <a:p>
            <a:r>
              <a:rPr lang="en-US"/>
              <a:t>The </a:t>
            </a:r>
            <a:r>
              <a:rPr lang="en-US" err="1"/>
              <a:t>SmartBall</a:t>
            </a:r>
            <a:r>
              <a:rPr lang="en-US"/>
              <a:t> eliminates the immobility problems associated with traditional systems by connecting to any network where the base station is also connected.</a:t>
            </a:r>
          </a:p>
        </p:txBody>
      </p:sp>
      <p:pic>
        <p:nvPicPr>
          <p:cNvPr id="5" name="Content Placeholder 4" descr="A football wrapped in tape&#10;&#10;AI-generated content may be incorrect.">
            <a:extLst>
              <a:ext uri="{FF2B5EF4-FFF2-40B4-BE49-F238E27FC236}">
                <a16:creationId xmlns:a16="http://schemas.microsoft.com/office/drawing/2014/main" id="{14D55BC2-66EE-DF05-2D04-CC1F58B64A96}"/>
              </a:ext>
            </a:extLst>
          </p:cNvPr>
          <p:cNvPicPr>
            <a:picLocks noGrp="1" noChangeAspect="1"/>
          </p:cNvPicPr>
          <p:nvPr>
            <p:ph sz="half" idx="2"/>
          </p:nvPr>
        </p:nvPicPr>
        <p:blipFill>
          <a:blip r:embed="rId2"/>
          <a:stretch>
            <a:fillRect/>
          </a:stretch>
        </p:blipFill>
        <p:spPr>
          <a:xfrm>
            <a:off x="6735009" y="1828800"/>
            <a:ext cx="3263503" cy="4351337"/>
          </a:xfrm>
          <a:prstGeom prst="rect">
            <a:avLst/>
          </a:prstGeom>
        </p:spPr>
      </p:pic>
    </p:spTree>
    <p:extLst>
      <p:ext uri="{BB962C8B-B14F-4D97-AF65-F5344CB8AC3E}">
        <p14:creationId xmlns:p14="http://schemas.microsoft.com/office/powerpoint/2010/main" val="211580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C2AA-0D7D-D628-6EC1-B230F5342C6F}"/>
              </a:ext>
            </a:extLst>
          </p:cNvPr>
          <p:cNvSpPr>
            <a:spLocks noGrp="1"/>
          </p:cNvSpPr>
          <p:nvPr>
            <p:ph type="title"/>
          </p:nvPr>
        </p:nvSpPr>
        <p:spPr/>
        <p:txBody>
          <a:bodyPr/>
          <a:lstStyle/>
          <a:p>
            <a:r>
              <a:rPr lang="en-US"/>
              <a:t>System Overview</a:t>
            </a:r>
          </a:p>
        </p:txBody>
      </p:sp>
      <p:sp>
        <p:nvSpPr>
          <p:cNvPr id="3" name="Content Placeholder 2">
            <a:extLst>
              <a:ext uri="{FF2B5EF4-FFF2-40B4-BE49-F238E27FC236}">
                <a16:creationId xmlns:a16="http://schemas.microsoft.com/office/drawing/2014/main" id="{40B87F82-5ACF-AC88-9D64-4D88BACF5C9C}"/>
              </a:ext>
            </a:extLst>
          </p:cNvPr>
          <p:cNvSpPr>
            <a:spLocks noGrp="1"/>
          </p:cNvSpPr>
          <p:nvPr>
            <p:ph sz="half" idx="1"/>
          </p:nvPr>
        </p:nvSpPr>
        <p:spPr/>
        <p:txBody>
          <a:bodyPr vert="horz" lIns="91440" tIns="45720" rIns="91440" bIns="45720" rtlCol="0" anchor="t">
            <a:normAutofit lnSpcReduction="10000"/>
          </a:bodyPr>
          <a:lstStyle/>
          <a:p>
            <a:r>
              <a:rPr lang="en-US" dirty="0"/>
              <a:t>The </a:t>
            </a:r>
            <a:r>
              <a:rPr lang="en-US" dirty="0" err="1"/>
              <a:t>SmartBall</a:t>
            </a:r>
            <a:r>
              <a:rPr lang="en-US" dirty="0"/>
              <a:t> system uses an ESP32 to read sensor data and communicate this data back to our base station over </a:t>
            </a:r>
            <a:r>
              <a:rPr lang="en-US" dirty="0" err="1"/>
              <a:t>WiFi</a:t>
            </a:r>
            <a:r>
              <a:rPr lang="en-US" dirty="0"/>
              <a:t>. It does this by sending the data via. UDP to port 4210 on our base station where the listener is running.</a:t>
            </a:r>
          </a:p>
          <a:p>
            <a:r>
              <a:rPr lang="en-US"/>
              <a:t>The listener is a Python program that waits for the ball to send throw data and then processes this data to return various analytical data points such as throw release time, throw release speed, peak acceleration, peak rotation, and expected throw distance. This data is available before the ball lands and is displayed in a command-line interface.</a:t>
            </a:r>
          </a:p>
          <a:p>
            <a:pPr lvl="1"/>
            <a:endParaRPr lang="en-US" dirty="0"/>
          </a:p>
          <a:p>
            <a:endParaRPr lang="en-US" dirty="0"/>
          </a:p>
        </p:txBody>
      </p:sp>
      <p:pic>
        <p:nvPicPr>
          <p:cNvPr id="6" name="Content Placeholder 5">
            <a:extLst>
              <a:ext uri="{FF2B5EF4-FFF2-40B4-BE49-F238E27FC236}">
                <a16:creationId xmlns:a16="http://schemas.microsoft.com/office/drawing/2014/main" id="{6658F5AA-2260-31FE-46ED-184BB6813D4A}"/>
              </a:ext>
            </a:extLst>
          </p:cNvPr>
          <p:cNvPicPr>
            <a:picLocks noGrp="1" noChangeAspect="1"/>
          </p:cNvPicPr>
          <p:nvPr>
            <p:ph sz="half" idx="2"/>
          </p:nvPr>
        </p:nvPicPr>
        <p:blipFill>
          <a:blip r:embed="rId3"/>
          <a:stretch>
            <a:fillRect/>
          </a:stretch>
        </p:blipFill>
        <p:spPr>
          <a:xfrm>
            <a:off x="6350449" y="1828800"/>
            <a:ext cx="4032621" cy="4351337"/>
          </a:xfrm>
          <a:prstGeom prst="rect">
            <a:avLst/>
          </a:prstGeom>
        </p:spPr>
      </p:pic>
      <p:sp>
        <p:nvSpPr>
          <p:cNvPr id="7" name="TextBox 6">
            <a:extLst>
              <a:ext uri="{FF2B5EF4-FFF2-40B4-BE49-F238E27FC236}">
                <a16:creationId xmlns:a16="http://schemas.microsoft.com/office/drawing/2014/main" id="{E162E113-4E08-27A2-3525-1F2FA22475FB}"/>
              </a:ext>
            </a:extLst>
          </p:cNvPr>
          <p:cNvSpPr txBox="1"/>
          <p:nvPr/>
        </p:nvSpPr>
        <p:spPr>
          <a:xfrm>
            <a:off x="6353907" y="6178061"/>
            <a:ext cx="39975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i="1" dirty="0"/>
              <a:t>Image of </a:t>
            </a:r>
            <a:r>
              <a:rPr lang="en-US" sz="1200" i="1" dirty="0" err="1"/>
              <a:t>SmartBall</a:t>
            </a:r>
            <a:r>
              <a:rPr lang="en-US" sz="1200" i="1" dirty="0"/>
              <a:t> when testing component fitment inside of the ball.</a:t>
            </a:r>
          </a:p>
        </p:txBody>
      </p:sp>
    </p:spTree>
    <p:extLst>
      <p:ext uri="{BB962C8B-B14F-4D97-AF65-F5344CB8AC3E}">
        <p14:creationId xmlns:p14="http://schemas.microsoft.com/office/powerpoint/2010/main" val="199327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7E16D-2D23-94AE-1E7E-6EF4BF57B505}"/>
              </a:ext>
            </a:extLst>
          </p:cNvPr>
          <p:cNvSpPr>
            <a:spLocks noGrp="1"/>
          </p:cNvSpPr>
          <p:nvPr>
            <p:ph type="title"/>
          </p:nvPr>
        </p:nvSpPr>
        <p:spPr/>
        <p:txBody>
          <a:bodyPr/>
          <a:lstStyle/>
          <a:p>
            <a:r>
              <a:rPr lang="en-US"/>
              <a:t>Listener – Code Overview</a:t>
            </a:r>
          </a:p>
        </p:txBody>
      </p:sp>
      <p:sp>
        <p:nvSpPr>
          <p:cNvPr id="3" name="Content Placeholder 2">
            <a:extLst>
              <a:ext uri="{FF2B5EF4-FFF2-40B4-BE49-F238E27FC236}">
                <a16:creationId xmlns:a16="http://schemas.microsoft.com/office/drawing/2014/main" id="{683C84A0-AC3A-0ABA-FD7F-CAED2D096C7E}"/>
              </a:ext>
            </a:extLst>
          </p:cNvPr>
          <p:cNvSpPr>
            <a:spLocks noGrp="1"/>
          </p:cNvSpPr>
          <p:nvPr>
            <p:ph idx="1"/>
          </p:nvPr>
        </p:nvSpPr>
        <p:spPr/>
        <p:txBody>
          <a:bodyPr>
            <a:normAutofit/>
          </a:bodyPr>
          <a:lstStyle/>
          <a:p>
            <a:r>
              <a:rPr lang="en-US" sz="2000"/>
              <a:t>Waits for incoming motion data over UDP</a:t>
            </a:r>
          </a:p>
          <a:p>
            <a:pPr lvl="1"/>
            <a:r>
              <a:rPr lang="en-US" sz="1800"/>
              <a:t>Timestamp</a:t>
            </a:r>
          </a:p>
          <a:p>
            <a:pPr lvl="1"/>
            <a:r>
              <a:rPr lang="en-US" sz="1800"/>
              <a:t>Acceleration (x, y, and z-axis from accelerometer)</a:t>
            </a:r>
          </a:p>
          <a:p>
            <a:pPr lvl="1"/>
            <a:r>
              <a:rPr lang="en-US" sz="1800"/>
              <a:t>Angular velocity (x, y, and z-axis from gyroscope)</a:t>
            </a:r>
          </a:p>
          <a:p>
            <a:r>
              <a:rPr lang="en-US" sz="2000"/>
              <a:t>One sample every 5 </a:t>
            </a:r>
            <a:r>
              <a:rPr lang="en-US" sz="2000" err="1"/>
              <a:t>ms</a:t>
            </a:r>
            <a:r>
              <a:rPr lang="en-US" sz="2000"/>
              <a:t> </a:t>
            </a:r>
            <a:r>
              <a:rPr lang="en-US" sz="2000">
                <a:sym typeface="Wingdings" panose="05000000000000000000" pitchFamily="2" charset="2"/>
              </a:rPr>
              <a:t> 200 Hz</a:t>
            </a:r>
            <a:endParaRPr lang="en-US" sz="2000"/>
          </a:p>
          <a:p>
            <a:r>
              <a:rPr lang="en-US" sz="2000"/>
              <a:t>Processes the throw data</a:t>
            </a:r>
          </a:p>
          <a:p>
            <a:pPr lvl="1"/>
            <a:r>
              <a:rPr lang="en-US" sz="1800"/>
              <a:t>Release time (sec)</a:t>
            </a:r>
          </a:p>
          <a:p>
            <a:pPr lvl="1"/>
            <a:r>
              <a:rPr lang="en-US" sz="1800"/>
              <a:t>Release speed (m/s)</a:t>
            </a:r>
          </a:p>
          <a:p>
            <a:pPr lvl="1"/>
            <a:r>
              <a:rPr lang="en-US" sz="1800"/>
              <a:t>Peak acceleration (m/s^2)</a:t>
            </a:r>
          </a:p>
          <a:p>
            <a:pPr lvl="1"/>
            <a:r>
              <a:rPr lang="en-US" sz="1800"/>
              <a:t>Peak rotational speed (rad/sec)</a:t>
            </a:r>
          </a:p>
          <a:p>
            <a:pPr lvl="1"/>
            <a:r>
              <a:rPr lang="en-US" sz="1800"/>
              <a:t>Expected distance traveled (m)</a:t>
            </a:r>
          </a:p>
          <a:p>
            <a:pPr lvl="1"/>
            <a:r>
              <a:rPr lang="en-US" sz="1800"/>
              <a:t>Throw strength classification</a:t>
            </a:r>
          </a:p>
        </p:txBody>
      </p:sp>
    </p:spTree>
    <p:extLst>
      <p:ext uri="{BB962C8B-B14F-4D97-AF65-F5344CB8AC3E}">
        <p14:creationId xmlns:p14="http://schemas.microsoft.com/office/powerpoint/2010/main" val="1458010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80D58-6D8B-01D5-6958-8C4CC383613B}"/>
              </a:ext>
            </a:extLst>
          </p:cNvPr>
          <p:cNvSpPr>
            <a:spLocks noGrp="1"/>
          </p:cNvSpPr>
          <p:nvPr>
            <p:ph type="title"/>
          </p:nvPr>
        </p:nvSpPr>
        <p:spPr/>
        <p:txBody>
          <a:bodyPr/>
          <a:lstStyle/>
          <a:p>
            <a:r>
              <a:rPr lang="en-US"/>
              <a:t>Listener – Process Throw</a:t>
            </a:r>
          </a:p>
        </p:txBody>
      </p:sp>
      <p:sp>
        <p:nvSpPr>
          <p:cNvPr id="3" name="Content Placeholder 2">
            <a:extLst>
              <a:ext uri="{FF2B5EF4-FFF2-40B4-BE49-F238E27FC236}">
                <a16:creationId xmlns:a16="http://schemas.microsoft.com/office/drawing/2014/main" id="{66289C4D-84E2-D69D-C20A-9553030FF6CE}"/>
              </a:ext>
            </a:extLst>
          </p:cNvPr>
          <p:cNvSpPr>
            <a:spLocks noGrp="1"/>
          </p:cNvSpPr>
          <p:nvPr>
            <p:ph idx="1"/>
          </p:nvPr>
        </p:nvSpPr>
        <p:spPr/>
        <p:txBody>
          <a:bodyPr/>
          <a:lstStyle/>
          <a:p>
            <a:r>
              <a:rPr lang="en-US"/>
              <a:t>Checks sample count; ensure enough data for throw analysis</a:t>
            </a:r>
          </a:p>
          <a:p>
            <a:r>
              <a:rPr lang="en-US"/>
              <a:t>Converts samples to arrays</a:t>
            </a:r>
          </a:p>
          <a:p>
            <a:pPr lvl="1"/>
            <a:r>
              <a:rPr lang="en-US"/>
              <a:t>Convert timestamps to seconds </a:t>
            </a:r>
            <a:r>
              <a:rPr lang="en-US">
                <a:sym typeface="Wingdings" panose="05000000000000000000" pitchFamily="2" charset="2"/>
              </a:rPr>
              <a:t> estimate sampling interval</a:t>
            </a:r>
          </a:p>
          <a:p>
            <a:pPr lvl="1"/>
            <a:r>
              <a:rPr lang="en-US">
                <a:sym typeface="Wingdings" panose="05000000000000000000" pitchFamily="2" charset="2"/>
              </a:rPr>
              <a:t>Compute acceleration and rotational magnitudes</a:t>
            </a:r>
          </a:p>
          <a:p>
            <a:r>
              <a:rPr lang="en-US"/>
              <a:t>Estimates gravity direction </a:t>
            </a:r>
            <a:r>
              <a:rPr lang="en-US">
                <a:sym typeface="Wingdings" panose="05000000000000000000" pitchFamily="2" charset="2"/>
              </a:rPr>
              <a:t> remove gravity from acceleration</a:t>
            </a:r>
          </a:p>
          <a:p>
            <a:r>
              <a:rPr lang="en-US">
                <a:sym typeface="Wingdings" panose="05000000000000000000" pitchFamily="2" charset="2"/>
              </a:rPr>
              <a:t>Detects and validates moment of release</a:t>
            </a:r>
          </a:p>
          <a:p>
            <a:r>
              <a:rPr lang="en-US">
                <a:sym typeface="Wingdings" panose="05000000000000000000" pitchFamily="2" charset="2"/>
              </a:rPr>
              <a:t>Integrates acceleration  initial velocity</a:t>
            </a:r>
          </a:p>
          <a:p>
            <a:r>
              <a:rPr lang="en-US"/>
              <a:t>Computes estimated throw distance</a:t>
            </a:r>
          </a:p>
          <a:p>
            <a:r>
              <a:rPr lang="en-US"/>
              <a:t>Classifies throw strength</a:t>
            </a:r>
          </a:p>
          <a:p>
            <a:r>
              <a:rPr lang="en-US"/>
              <a:t>Prints results, logs to CSV file</a:t>
            </a:r>
          </a:p>
          <a:p>
            <a:endParaRPr lang="en-US"/>
          </a:p>
        </p:txBody>
      </p:sp>
    </p:spTree>
    <p:extLst>
      <p:ext uri="{BB962C8B-B14F-4D97-AF65-F5344CB8AC3E}">
        <p14:creationId xmlns:p14="http://schemas.microsoft.com/office/powerpoint/2010/main" val="336818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FEEA6-CEEB-8CB3-D114-3874303FBFA1}"/>
              </a:ext>
            </a:extLst>
          </p:cNvPr>
          <p:cNvSpPr>
            <a:spLocks noGrp="1"/>
          </p:cNvSpPr>
          <p:nvPr>
            <p:ph type="title"/>
          </p:nvPr>
        </p:nvSpPr>
        <p:spPr/>
        <p:txBody>
          <a:bodyPr/>
          <a:lstStyle/>
          <a:p>
            <a:r>
              <a:rPr lang="en-US"/>
              <a:t>Listener – Detect Release Moment</a:t>
            </a:r>
          </a:p>
        </p:txBody>
      </p:sp>
      <p:pic>
        <p:nvPicPr>
          <p:cNvPr id="7" name="Picture 6">
            <a:extLst>
              <a:ext uri="{FF2B5EF4-FFF2-40B4-BE49-F238E27FC236}">
                <a16:creationId xmlns:a16="http://schemas.microsoft.com/office/drawing/2014/main" id="{C23E597A-1FD3-BA72-27A8-CC4F1FA38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05638"/>
            <a:ext cx="11302779" cy="3804676"/>
          </a:xfrm>
          <a:prstGeom prst="rect">
            <a:avLst/>
          </a:prstGeom>
        </p:spPr>
      </p:pic>
      <p:pic>
        <p:nvPicPr>
          <p:cNvPr id="9" name="Picture 8">
            <a:extLst>
              <a:ext uri="{FF2B5EF4-FFF2-40B4-BE49-F238E27FC236}">
                <a16:creationId xmlns:a16="http://schemas.microsoft.com/office/drawing/2014/main" id="{5F34D718-B44E-4E8C-19FF-E5EB80BCB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692581"/>
            <a:ext cx="11293673" cy="2165420"/>
          </a:xfrm>
          <a:prstGeom prst="rect">
            <a:avLst/>
          </a:prstGeom>
        </p:spPr>
      </p:pic>
    </p:spTree>
    <p:extLst>
      <p:ext uri="{BB962C8B-B14F-4D97-AF65-F5344CB8AC3E}">
        <p14:creationId xmlns:p14="http://schemas.microsoft.com/office/powerpoint/2010/main" val="1682576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45D2C-70D7-807C-E5C0-CBA70F59DF0D}"/>
              </a:ext>
            </a:extLst>
          </p:cNvPr>
          <p:cNvSpPr>
            <a:spLocks noGrp="1"/>
          </p:cNvSpPr>
          <p:nvPr>
            <p:ph type="title"/>
          </p:nvPr>
        </p:nvSpPr>
        <p:spPr/>
        <p:txBody>
          <a:bodyPr/>
          <a:lstStyle/>
          <a:p>
            <a:r>
              <a:rPr lang="en-US"/>
              <a:t>Listener – Compute Release Speed</a:t>
            </a:r>
          </a:p>
        </p:txBody>
      </p:sp>
      <p:pic>
        <p:nvPicPr>
          <p:cNvPr id="7" name="Picture 6">
            <a:extLst>
              <a:ext uri="{FF2B5EF4-FFF2-40B4-BE49-F238E27FC236}">
                <a16:creationId xmlns:a16="http://schemas.microsoft.com/office/drawing/2014/main" id="{D84ADF77-4227-84CA-4345-DB85D45ACF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18271"/>
            <a:ext cx="12192000" cy="3900000"/>
          </a:xfrm>
          <a:prstGeom prst="rect">
            <a:avLst/>
          </a:prstGeom>
        </p:spPr>
      </p:pic>
    </p:spTree>
    <p:extLst>
      <p:ext uri="{BB962C8B-B14F-4D97-AF65-F5344CB8AC3E}">
        <p14:creationId xmlns:p14="http://schemas.microsoft.com/office/powerpoint/2010/main" val="50130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7B164-7D8D-24C5-415C-280B9DDAC4D6}"/>
              </a:ext>
            </a:extLst>
          </p:cNvPr>
          <p:cNvSpPr>
            <a:spLocks noGrp="1"/>
          </p:cNvSpPr>
          <p:nvPr>
            <p:ph type="title"/>
          </p:nvPr>
        </p:nvSpPr>
        <p:spPr/>
        <p:txBody>
          <a:bodyPr/>
          <a:lstStyle/>
          <a:p>
            <a:r>
              <a:rPr lang="en-US"/>
              <a:t>Listener – Peak Acceleration And Rotation Extraction</a:t>
            </a:r>
          </a:p>
        </p:txBody>
      </p:sp>
      <p:pic>
        <p:nvPicPr>
          <p:cNvPr id="5" name="Picture 4">
            <a:extLst>
              <a:ext uri="{FF2B5EF4-FFF2-40B4-BE49-F238E27FC236}">
                <a16:creationId xmlns:a16="http://schemas.microsoft.com/office/drawing/2014/main" id="{75A1641E-932E-B7E3-7081-8A8BC68EF5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8" y="1220174"/>
            <a:ext cx="12192000" cy="2112000"/>
          </a:xfrm>
          <a:prstGeom prst="rect">
            <a:avLst/>
          </a:prstGeom>
        </p:spPr>
      </p:pic>
      <p:pic>
        <p:nvPicPr>
          <p:cNvPr id="7" name="Picture 6">
            <a:extLst>
              <a:ext uri="{FF2B5EF4-FFF2-40B4-BE49-F238E27FC236}">
                <a16:creationId xmlns:a16="http://schemas.microsoft.com/office/drawing/2014/main" id="{9A9B6D61-7408-F7BC-0EBC-0774D78BBB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108" y="2469827"/>
            <a:ext cx="12192000" cy="2112000"/>
          </a:xfrm>
          <a:prstGeom prst="rect">
            <a:avLst/>
          </a:prstGeom>
        </p:spPr>
      </p:pic>
      <p:pic>
        <p:nvPicPr>
          <p:cNvPr id="29" name="Picture 28">
            <a:extLst>
              <a:ext uri="{FF2B5EF4-FFF2-40B4-BE49-F238E27FC236}">
                <a16:creationId xmlns:a16="http://schemas.microsoft.com/office/drawing/2014/main" id="{61889272-E2A6-A623-0691-5D1D77F83F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108" y="3871298"/>
            <a:ext cx="12192000" cy="2112000"/>
          </a:xfrm>
          <a:prstGeom prst="rect">
            <a:avLst/>
          </a:prstGeom>
        </p:spPr>
      </p:pic>
      <p:pic>
        <p:nvPicPr>
          <p:cNvPr id="31" name="Picture 30">
            <a:extLst>
              <a:ext uri="{FF2B5EF4-FFF2-40B4-BE49-F238E27FC236}">
                <a16:creationId xmlns:a16="http://schemas.microsoft.com/office/drawing/2014/main" id="{A039E19F-6D3A-5B60-0DF2-BE68ADF071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108" y="5118931"/>
            <a:ext cx="12192000" cy="2112000"/>
          </a:xfrm>
          <a:prstGeom prst="rect">
            <a:avLst/>
          </a:prstGeom>
        </p:spPr>
      </p:pic>
    </p:spTree>
    <p:extLst>
      <p:ext uri="{BB962C8B-B14F-4D97-AF65-F5344CB8AC3E}">
        <p14:creationId xmlns:p14="http://schemas.microsoft.com/office/powerpoint/2010/main" val="2814278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46BF-1351-C93B-E1F6-C420A602A2B6}"/>
              </a:ext>
            </a:extLst>
          </p:cNvPr>
          <p:cNvSpPr>
            <a:spLocks noGrp="1"/>
          </p:cNvSpPr>
          <p:nvPr>
            <p:ph type="title"/>
          </p:nvPr>
        </p:nvSpPr>
        <p:spPr/>
        <p:txBody>
          <a:bodyPr/>
          <a:lstStyle/>
          <a:p>
            <a:r>
              <a:rPr lang="en-US"/>
              <a:t>Listener – Expected Travel Distance</a:t>
            </a:r>
          </a:p>
        </p:txBody>
      </p:sp>
      <p:pic>
        <p:nvPicPr>
          <p:cNvPr id="5" name="Content Placeholder 4">
            <a:extLst>
              <a:ext uri="{FF2B5EF4-FFF2-40B4-BE49-F238E27FC236}">
                <a16:creationId xmlns:a16="http://schemas.microsoft.com/office/drawing/2014/main" id="{DFEB35D8-F13E-A03D-AB73-5958BC06CC9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5229" y="2343403"/>
            <a:ext cx="11752441" cy="2035856"/>
          </a:xfrm>
          <a:prstGeom prst="rect">
            <a:avLst/>
          </a:prstGeom>
        </p:spPr>
      </p:pic>
    </p:spTree>
    <p:extLst>
      <p:ext uri="{BB962C8B-B14F-4D97-AF65-F5344CB8AC3E}">
        <p14:creationId xmlns:p14="http://schemas.microsoft.com/office/powerpoint/2010/main" val="1977750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334AE-4D8D-1027-C437-90D291563A9E}"/>
              </a:ext>
            </a:extLst>
          </p:cNvPr>
          <p:cNvSpPr>
            <a:spLocks noGrp="1"/>
          </p:cNvSpPr>
          <p:nvPr>
            <p:ph type="title"/>
          </p:nvPr>
        </p:nvSpPr>
        <p:spPr/>
        <p:txBody>
          <a:bodyPr/>
          <a:lstStyle/>
          <a:p>
            <a:r>
              <a:rPr lang="en-US"/>
              <a:t>ESP32 – UDP Streaming</a:t>
            </a:r>
          </a:p>
        </p:txBody>
      </p:sp>
      <p:sp>
        <p:nvSpPr>
          <p:cNvPr id="3" name="Content Placeholder 2">
            <a:extLst>
              <a:ext uri="{FF2B5EF4-FFF2-40B4-BE49-F238E27FC236}">
                <a16:creationId xmlns:a16="http://schemas.microsoft.com/office/drawing/2014/main" id="{25C89221-0425-CE76-FF24-FCAE02F91117}"/>
              </a:ext>
            </a:extLst>
          </p:cNvPr>
          <p:cNvSpPr>
            <a:spLocks noGrp="1"/>
          </p:cNvSpPr>
          <p:nvPr>
            <p:ph sz="half" idx="1"/>
          </p:nvPr>
        </p:nvSpPr>
        <p:spPr/>
        <p:txBody>
          <a:bodyPr vert="horz" lIns="91440" tIns="45720" rIns="91440" bIns="45720" rtlCol="0" anchor="t">
            <a:normAutofit lnSpcReduction="10000"/>
          </a:bodyPr>
          <a:lstStyle/>
          <a:p>
            <a:r>
              <a:rPr lang="en-US"/>
              <a:t>The image shows how the ESP32 communicates the sensor data over Wi-Fi.</a:t>
            </a:r>
          </a:p>
          <a:p>
            <a:pPr lvl="1">
              <a:buFont typeface="Courier New" pitchFamily="34" charset="0"/>
              <a:buChar char="o"/>
            </a:pPr>
            <a:r>
              <a:rPr lang="en-US" spc="10">
                <a:solidFill>
                  <a:srgbClr val="000000"/>
                </a:solidFill>
              </a:rPr>
              <a:t>The network information is hard-coded within the ESP32 code. This information consists of the SSID, password, and IP address of the listener device.</a:t>
            </a:r>
          </a:p>
          <a:p>
            <a:r>
              <a:rPr lang="en-US" dirty="0"/>
              <a:t>It communicates over Wi-Fi using UDP. The reason for using UDP over TCP is that UDP is lightweight and quick. </a:t>
            </a:r>
          </a:p>
          <a:p>
            <a:pPr lvl="1">
              <a:buFont typeface="Courier New" pitchFamily="34" charset="0"/>
              <a:buChar char="o"/>
            </a:pPr>
            <a:r>
              <a:rPr lang="en-US" spc="10" dirty="0">
                <a:solidFill>
                  <a:srgbClr val="000000"/>
                </a:solidFill>
              </a:rPr>
              <a:t>TCP requires a handshake and cares about packet loss where UDP does not.</a:t>
            </a:r>
          </a:p>
          <a:p>
            <a:pPr lvl="1">
              <a:buFont typeface="Courier New" pitchFamily="34" charset="0"/>
              <a:buChar char="o"/>
            </a:pPr>
            <a:r>
              <a:rPr lang="en-US" spc="10" dirty="0">
                <a:solidFill>
                  <a:srgbClr val="000000"/>
                </a:solidFill>
              </a:rPr>
              <a:t>If a packet of data is lost, it is still possible to perform calculations on the remaining data to output some </a:t>
            </a:r>
            <a:r>
              <a:rPr lang="en-US" spc="10">
                <a:solidFill>
                  <a:srgbClr val="000000"/>
                </a:solidFill>
              </a:rPr>
              <a:t>analytical data.</a:t>
            </a:r>
            <a:endParaRPr lang="en-US" spc="10" dirty="0">
              <a:solidFill>
                <a:srgbClr val="000000"/>
              </a:solidFill>
            </a:endParaRPr>
          </a:p>
        </p:txBody>
      </p:sp>
      <p:pic>
        <p:nvPicPr>
          <p:cNvPr id="7" name="Content Placeholder 6">
            <a:extLst>
              <a:ext uri="{FF2B5EF4-FFF2-40B4-BE49-F238E27FC236}">
                <a16:creationId xmlns:a16="http://schemas.microsoft.com/office/drawing/2014/main" id="{503E95CF-A477-DFC3-B69C-A6203B59ABC0}"/>
              </a:ext>
            </a:extLst>
          </p:cNvPr>
          <p:cNvPicPr>
            <a:picLocks noGrp="1" noChangeAspect="1"/>
          </p:cNvPicPr>
          <p:nvPr>
            <p:ph sz="half" idx="2"/>
          </p:nvPr>
        </p:nvPicPr>
        <p:blipFill>
          <a:blip r:embed="rId2"/>
          <a:stretch>
            <a:fillRect/>
          </a:stretch>
        </p:blipFill>
        <p:spPr>
          <a:xfrm>
            <a:off x="6126480" y="2083558"/>
            <a:ext cx="4480560" cy="3841822"/>
          </a:xfrm>
          <a:prstGeom prst="rect">
            <a:avLst/>
          </a:prstGeom>
        </p:spPr>
      </p:pic>
    </p:spTree>
    <p:extLst>
      <p:ext uri="{BB962C8B-B14F-4D97-AF65-F5344CB8AC3E}">
        <p14:creationId xmlns:p14="http://schemas.microsoft.com/office/powerpoint/2010/main" val="825597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206B-D67A-0117-72DB-52143582A826}"/>
              </a:ext>
            </a:extLst>
          </p:cNvPr>
          <p:cNvSpPr>
            <a:spLocks noGrp="1"/>
          </p:cNvSpPr>
          <p:nvPr>
            <p:ph type="title"/>
          </p:nvPr>
        </p:nvSpPr>
        <p:spPr/>
        <p:txBody>
          <a:bodyPr/>
          <a:lstStyle/>
          <a:p>
            <a:r>
              <a:rPr lang="en-US"/>
              <a:t>ESP32 – Auto-Calibration</a:t>
            </a:r>
          </a:p>
        </p:txBody>
      </p:sp>
      <p:sp>
        <p:nvSpPr>
          <p:cNvPr id="3" name="Content Placeholder 2">
            <a:extLst>
              <a:ext uri="{FF2B5EF4-FFF2-40B4-BE49-F238E27FC236}">
                <a16:creationId xmlns:a16="http://schemas.microsoft.com/office/drawing/2014/main" id="{AD2CE519-DC09-60F0-C14C-8B259FE63FC8}"/>
              </a:ext>
            </a:extLst>
          </p:cNvPr>
          <p:cNvSpPr>
            <a:spLocks noGrp="1"/>
          </p:cNvSpPr>
          <p:nvPr>
            <p:ph sz="half" idx="1"/>
          </p:nvPr>
        </p:nvSpPr>
        <p:spPr/>
        <p:txBody>
          <a:bodyPr vert="horz" lIns="91440" tIns="45720" rIns="91440" bIns="45720" rtlCol="0" anchor="t">
            <a:normAutofit/>
          </a:bodyPr>
          <a:lstStyle/>
          <a:p>
            <a:r>
              <a:rPr lang="en-US"/>
              <a:t>The figure shown in this slide is the code snippet of the ESP32 auto-calibrating the Gyroscope of the MPU6050.</a:t>
            </a:r>
          </a:p>
          <a:p>
            <a:r>
              <a:rPr lang="en-US"/>
              <a:t>Before the system is ready for use (just after being turned on), the system calibrates the gyroscope by averaging readings while the ball is still. </a:t>
            </a:r>
            <a:endParaRPr lang="en-US" dirty="0"/>
          </a:p>
          <a:p>
            <a:r>
              <a:rPr lang="en-US"/>
              <a:t>This obtains sensor bias which we can remove from the active readings to improve the quality of motion data before being transmitted.</a:t>
            </a:r>
          </a:p>
        </p:txBody>
      </p:sp>
      <p:pic>
        <p:nvPicPr>
          <p:cNvPr id="5" name="Content Placeholder 4">
            <a:extLst>
              <a:ext uri="{FF2B5EF4-FFF2-40B4-BE49-F238E27FC236}">
                <a16:creationId xmlns:a16="http://schemas.microsoft.com/office/drawing/2014/main" id="{978126C6-1B3F-F6FD-0B18-F0805E9302BB}"/>
              </a:ext>
            </a:extLst>
          </p:cNvPr>
          <p:cNvPicPr>
            <a:picLocks noGrp="1" noChangeAspect="1"/>
          </p:cNvPicPr>
          <p:nvPr>
            <p:ph sz="half" idx="2"/>
          </p:nvPr>
        </p:nvPicPr>
        <p:blipFill>
          <a:blip r:embed="rId2"/>
          <a:stretch>
            <a:fillRect/>
          </a:stretch>
        </p:blipFill>
        <p:spPr>
          <a:xfrm>
            <a:off x="6104988" y="1829678"/>
            <a:ext cx="4661254" cy="4349580"/>
          </a:xfrm>
          <a:prstGeom prst="rect">
            <a:avLst/>
          </a:prstGeom>
        </p:spPr>
      </p:pic>
    </p:spTree>
    <p:extLst>
      <p:ext uri="{BB962C8B-B14F-4D97-AF65-F5344CB8AC3E}">
        <p14:creationId xmlns:p14="http://schemas.microsoft.com/office/powerpoint/2010/main" val="971476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DEE-5C4B-F876-7CEA-7AD3AAD50EAC}"/>
              </a:ext>
            </a:extLst>
          </p:cNvPr>
          <p:cNvSpPr>
            <a:spLocks noGrp="1"/>
          </p:cNvSpPr>
          <p:nvPr>
            <p:ph type="title"/>
          </p:nvPr>
        </p:nvSpPr>
        <p:spPr>
          <a:xfrm>
            <a:off x="384125" y="298241"/>
            <a:ext cx="9692640" cy="1325562"/>
          </a:xfrm>
        </p:spPr>
        <p:txBody>
          <a:bodyPr/>
          <a:lstStyle/>
          <a:p>
            <a:r>
              <a:rPr lang="en-US"/>
              <a:t>ESP32 – Pre-Roll Buffer &amp; Throw </a:t>
            </a:r>
            <a:r>
              <a:rPr lang="en-US" err="1"/>
              <a:t>Detectio</a:t>
            </a:r>
            <a:r>
              <a:rPr lang="en-US"/>
              <a:t>n</a:t>
            </a:r>
          </a:p>
        </p:txBody>
      </p:sp>
      <p:pic>
        <p:nvPicPr>
          <p:cNvPr id="6" name="Content Placeholder 5" descr="A computer screen shot of a program code&#10;&#10;AI-generated content may be incorrect.">
            <a:extLst>
              <a:ext uri="{FF2B5EF4-FFF2-40B4-BE49-F238E27FC236}">
                <a16:creationId xmlns:a16="http://schemas.microsoft.com/office/drawing/2014/main" id="{15660352-4B2E-61FB-CAD5-F32FD01A94CC}"/>
              </a:ext>
            </a:extLst>
          </p:cNvPr>
          <p:cNvPicPr>
            <a:picLocks noGrp="1" noChangeAspect="1"/>
          </p:cNvPicPr>
          <p:nvPr>
            <p:ph sz="half" idx="1"/>
          </p:nvPr>
        </p:nvPicPr>
        <p:blipFill>
          <a:blip r:embed="rId2"/>
          <a:stretch>
            <a:fillRect/>
          </a:stretch>
        </p:blipFill>
        <p:spPr>
          <a:xfrm>
            <a:off x="6084656" y="1310814"/>
            <a:ext cx="4480560" cy="3593233"/>
          </a:xfrm>
          <a:prstGeom prst="rect">
            <a:avLst/>
          </a:prstGeom>
        </p:spPr>
      </p:pic>
      <p:pic>
        <p:nvPicPr>
          <p:cNvPr id="5" name="Content Placeholder 4" descr="A computer screen shot of text&#10;&#10;AI-generated content may be incorrect.">
            <a:extLst>
              <a:ext uri="{FF2B5EF4-FFF2-40B4-BE49-F238E27FC236}">
                <a16:creationId xmlns:a16="http://schemas.microsoft.com/office/drawing/2014/main" id="{8699EC1A-BE52-21A0-D826-0E19FD693597}"/>
              </a:ext>
            </a:extLst>
          </p:cNvPr>
          <p:cNvPicPr>
            <a:picLocks noGrp="1" noChangeAspect="1"/>
          </p:cNvPicPr>
          <p:nvPr>
            <p:ph sz="half" idx="2"/>
          </p:nvPr>
        </p:nvPicPr>
        <p:blipFill>
          <a:blip r:embed="rId3"/>
          <a:stretch>
            <a:fillRect/>
          </a:stretch>
        </p:blipFill>
        <p:spPr>
          <a:xfrm>
            <a:off x="6087432" y="5017800"/>
            <a:ext cx="4480560" cy="1694666"/>
          </a:xfrm>
          <a:prstGeom prst="rect">
            <a:avLst/>
          </a:prstGeom>
        </p:spPr>
      </p:pic>
      <p:sp>
        <p:nvSpPr>
          <p:cNvPr id="7" name="TextBox 6">
            <a:extLst>
              <a:ext uri="{FF2B5EF4-FFF2-40B4-BE49-F238E27FC236}">
                <a16:creationId xmlns:a16="http://schemas.microsoft.com/office/drawing/2014/main" id="{D9FE40C6-24A9-CB8B-6C3A-417DD53AF98E}"/>
              </a:ext>
            </a:extLst>
          </p:cNvPr>
          <p:cNvSpPr txBox="1"/>
          <p:nvPr/>
        </p:nvSpPr>
        <p:spPr>
          <a:xfrm>
            <a:off x="385823" y="1628822"/>
            <a:ext cx="5401518"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The first image relates to the pre-roll buffer. This circular pre-roll buffer keeps a short history of </a:t>
            </a:r>
            <a:r>
              <a:rPr lang="en-US" dirty="0" err="1"/>
              <a:t>rece</a:t>
            </a:r>
            <a:r>
              <a:rPr lang="en-US" dirty="0"/>
              <a:t>nt motion samples. </a:t>
            </a:r>
            <a:endParaRPr lang="en-US"/>
          </a:p>
          <a:p>
            <a:pPr marL="742950" lvl="1" indent="-285750">
              <a:buFont typeface="Courier New"/>
              <a:buChar char="o"/>
            </a:pPr>
            <a:r>
              <a:rPr lang="en-US"/>
              <a:t>As a result, when a throw is detected, it </a:t>
            </a:r>
            <a:r>
              <a:rPr lang="en-US" dirty="0"/>
              <a:t>sends the data just before and just after the </a:t>
            </a:r>
            <a:r>
              <a:rPr lang="en-US"/>
              <a:t>trigger. This preserves the data </a:t>
            </a:r>
            <a:r>
              <a:rPr lang="en-US" dirty="0"/>
              <a:t>from </a:t>
            </a:r>
            <a:r>
              <a:rPr lang="en-US"/>
              <a:t>the beginning of the throw which is crucial for sports analytics.</a:t>
            </a:r>
          </a:p>
          <a:p>
            <a:pPr marL="285750" indent="-285750">
              <a:buFont typeface="Arial"/>
              <a:buChar char="•"/>
            </a:pPr>
            <a:r>
              <a:rPr lang="en-US" dirty="0"/>
              <a:t>The second image shows how the ESP32 determines that a throw has occurred. </a:t>
            </a:r>
          </a:p>
          <a:p>
            <a:pPr marL="742950" lvl="1" indent="-285750">
              <a:buFont typeface="Courier New"/>
              <a:buChar char="o"/>
            </a:pPr>
            <a:r>
              <a:rPr lang="en-US" dirty="0"/>
              <a:t>The ESP32 checks total acceleration and angular velocity such that when either crosses a threshold, the system determines it as a throw "event" and begins recording. There is also a cooldown period so that the system would not re-trigger when the ball was picked up after a throw.</a:t>
            </a:r>
          </a:p>
        </p:txBody>
      </p:sp>
    </p:spTree>
    <p:extLst>
      <p:ext uri="{BB962C8B-B14F-4D97-AF65-F5344CB8AC3E}">
        <p14:creationId xmlns:p14="http://schemas.microsoft.com/office/powerpoint/2010/main" val="1435263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B6D324E-2D03-4162-AF1E-D5E32234E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826DABA-F9F3-F092-15D4-BFA09E6749B8}"/>
              </a:ext>
            </a:extLst>
          </p:cNvPr>
          <p:cNvSpPr>
            <a:spLocks noGrp="1"/>
          </p:cNvSpPr>
          <p:nvPr>
            <p:ph type="title"/>
          </p:nvPr>
        </p:nvSpPr>
        <p:spPr>
          <a:xfrm>
            <a:off x="1202320" y="566382"/>
            <a:ext cx="5061585" cy="1550284"/>
          </a:xfrm>
        </p:spPr>
        <p:txBody>
          <a:bodyPr vert="horz" lIns="91440" tIns="45720" rIns="91440" bIns="45720" rtlCol="0" anchor="b">
            <a:normAutofit/>
          </a:bodyPr>
          <a:lstStyle/>
          <a:p>
            <a:r>
              <a:rPr lang="en-US"/>
              <a:t>Hardware Overview</a:t>
            </a:r>
          </a:p>
        </p:txBody>
      </p:sp>
      <p:sp>
        <p:nvSpPr>
          <p:cNvPr id="12" name="Rectangle 11">
            <a:extLst>
              <a:ext uri="{FF2B5EF4-FFF2-40B4-BE49-F238E27FC236}">
                <a16:creationId xmlns:a16="http://schemas.microsoft.com/office/drawing/2014/main" id="{50CF6C96-4596-4D83-A9F9-A3AB22AB4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E7D5CF2-5D89-81E2-FB1A-958C5781E7F4}"/>
              </a:ext>
            </a:extLst>
          </p:cNvPr>
          <p:cNvSpPr>
            <a:spLocks noGrp="1"/>
          </p:cNvSpPr>
          <p:nvPr>
            <p:ph sz="half" idx="1"/>
          </p:nvPr>
        </p:nvSpPr>
        <p:spPr>
          <a:xfrm>
            <a:off x="1199535" y="2438399"/>
            <a:ext cx="4572002" cy="3853219"/>
          </a:xfrm>
        </p:spPr>
        <p:txBody>
          <a:bodyPr vert="horz" lIns="91440" tIns="45720" rIns="91440" bIns="45720" rtlCol="0">
            <a:normAutofit/>
          </a:bodyPr>
          <a:lstStyle/>
          <a:p>
            <a:r>
              <a:rPr lang="en-US" sz="1400"/>
              <a:t>The system relies upon an ESP32 for reading sensor data and communicating this data via </a:t>
            </a:r>
            <a:r>
              <a:rPr lang="en-US" sz="1400" err="1"/>
              <a:t>WiFi</a:t>
            </a:r>
            <a:r>
              <a:rPr lang="en-US" sz="1400"/>
              <a:t> to the base station.</a:t>
            </a:r>
          </a:p>
          <a:p>
            <a:r>
              <a:rPr lang="en-US" sz="1400"/>
              <a:t>The sensor gathering the analytical data is a MPU6050 6-axis Accelerometer and Gyroscope.</a:t>
            </a:r>
          </a:p>
          <a:p>
            <a:r>
              <a:rPr lang="en-US" sz="1400"/>
              <a:t>Both the ESP32 and MPU6050 require a 5V input which is supplied by the MT3608 DC-DC Boost Converter. </a:t>
            </a:r>
          </a:p>
          <a:p>
            <a:pPr lvl="1">
              <a:buFont typeface="Courier New" pitchFamily="34" charset="0"/>
              <a:buChar char="o"/>
            </a:pPr>
            <a:r>
              <a:rPr lang="en-US" sz="1400" spc="10"/>
              <a:t>The MT3608 receives 3.7v from our 3000 </a:t>
            </a:r>
            <a:r>
              <a:rPr lang="en-US" sz="1400" spc="10" err="1"/>
              <a:t>mAh</a:t>
            </a:r>
            <a:r>
              <a:rPr lang="en-US" sz="1400" spc="10"/>
              <a:t> LiPo battery.</a:t>
            </a:r>
          </a:p>
          <a:p>
            <a:r>
              <a:rPr lang="en-US" sz="1400"/>
              <a:t>The batteries positive and negative terminals are both switched to be able to turn off the system.</a:t>
            </a:r>
          </a:p>
          <a:p>
            <a:pPr lvl="1">
              <a:buFont typeface="Courier New" pitchFamily="34" charset="0"/>
              <a:buChar char="o"/>
            </a:pPr>
            <a:r>
              <a:rPr lang="en-US" sz="1400" spc="10"/>
              <a:t>The battery is charged outside of the ball via a TP4056 5V 1A USB-C Battery Charger.</a:t>
            </a:r>
          </a:p>
        </p:txBody>
      </p:sp>
      <p:pic>
        <p:nvPicPr>
          <p:cNvPr id="5" name="Content Placeholder 4" descr="A diagram of a circuit board&#10;&#10;AI-generated content may be incorrect.">
            <a:extLst>
              <a:ext uri="{FF2B5EF4-FFF2-40B4-BE49-F238E27FC236}">
                <a16:creationId xmlns:a16="http://schemas.microsoft.com/office/drawing/2014/main" id="{F7DBFEEE-67AE-CFF7-9D19-FA5C06AF7655}"/>
              </a:ext>
            </a:extLst>
          </p:cNvPr>
          <p:cNvPicPr>
            <a:picLocks noGrp="1" noChangeAspect="1"/>
          </p:cNvPicPr>
          <p:nvPr>
            <p:ph sz="half" idx="2"/>
          </p:nvPr>
        </p:nvPicPr>
        <p:blipFill>
          <a:blip r:embed="rId3"/>
          <a:srcRect l="11128"/>
          <a:stretch>
            <a:fillRect/>
          </a:stretch>
        </p:blipFill>
        <p:spPr>
          <a:xfrm>
            <a:off x="6097181" y="10"/>
            <a:ext cx="6094819" cy="6857990"/>
          </a:xfrm>
          <a:prstGeom prst="rect">
            <a:avLst/>
          </a:prstGeom>
        </p:spPr>
      </p:pic>
    </p:spTree>
    <p:extLst>
      <p:ext uri="{BB962C8B-B14F-4D97-AF65-F5344CB8AC3E}">
        <p14:creationId xmlns:p14="http://schemas.microsoft.com/office/powerpoint/2010/main" val="26102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67349-FD81-9E77-E579-92461AE71BD3}"/>
              </a:ext>
            </a:extLst>
          </p:cNvPr>
          <p:cNvSpPr>
            <a:spLocks noGrp="1"/>
          </p:cNvSpPr>
          <p:nvPr>
            <p:ph type="title"/>
          </p:nvPr>
        </p:nvSpPr>
        <p:spPr/>
        <p:txBody>
          <a:bodyPr/>
          <a:lstStyle/>
          <a:p>
            <a:r>
              <a:rPr lang="en-US"/>
              <a:t>The </a:t>
            </a:r>
            <a:r>
              <a:rPr lang="en-US" err="1"/>
              <a:t>SmartBall</a:t>
            </a:r>
            <a:r>
              <a:rPr lang="en-US"/>
              <a:t> Demo</a:t>
            </a:r>
          </a:p>
        </p:txBody>
      </p:sp>
      <p:pic>
        <p:nvPicPr>
          <p:cNvPr id="4" name="Online Media 3" title="Wireless Final Project Demo (SmartBall)">
            <a:hlinkClick r:id="" action="ppaction://noaction"/>
            <a:extLst>
              <a:ext uri="{FF2B5EF4-FFF2-40B4-BE49-F238E27FC236}">
                <a16:creationId xmlns:a16="http://schemas.microsoft.com/office/drawing/2014/main" id="{71580F42-1F61-0F64-E4D8-E7B9EA1B4CDB}"/>
              </a:ext>
            </a:extLst>
          </p:cNvPr>
          <p:cNvPicPr>
            <a:picLocks noGrp="1" noRot="1" noChangeAspect="1"/>
          </p:cNvPicPr>
          <p:nvPr>
            <p:ph idx="1"/>
            <a:videoFile r:link="rId1"/>
          </p:nvPr>
        </p:nvPicPr>
        <p:blipFill>
          <a:blip r:embed="rId3"/>
          <a:stretch>
            <a:fillRect/>
          </a:stretch>
        </p:blipFill>
        <p:spPr>
          <a:xfrm>
            <a:off x="1375146" y="1807923"/>
            <a:ext cx="8629519" cy="4351338"/>
          </a:xfrm>
          <a:prstGeom prst="rect">
            <a:avLst/>
          </a:prstGeom>
        </p:spPr>
      </p:pic>
    </p:spTree>
    <p:extLst>
      <p:ext uri="{BB962C8B-B14F-4D97-AF65-F5344CB8AC3E}">
        <p14:creationId xmlns:p14="http://schemas.microsoft.com/office/powerpoint/2010/main" val="3437500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48B4A-4907-AA8C-9230-2A4CA7436D4F}"/>
              </a:ext>
            </a:extLst>
          </p:cNvPr>
          <p:cNvSpPr>
            <a:spLocks noGrp="1"/>
          </p:cNvSpPr>
          <p:nvPr>
            <p:ph type="title"/>
          </p:nvPr>
        </p:nvSpPr>
        <p:spPr/>
        <p:txBody>
          <a:bodyPr/>
          <a:lstStyle/>
          <a:p>
            <a:r>
              <a:rPr lang="en-US"/>
              <a:t>Experimentation Results</a:t>
            </a:r>
          </a:p>
        </p:txBody>
      </p:sp>
      <p:sp>
        <p:nvSpPr>
          <p:cNvPr id="3" name="Content Placeholder 2">
            <a:extLst>
              <a:ext uri="{FF2B5EF4-FFF2-40B4-BE49-F238E27FC236}">
                <a16:creationId xmlns:a16="http://schemas.microsoft.com/office/drawing/2014/main" id="{F7908427-D078-518C-632C-A5E36948DC69}"/>
              </a:ext>
            </a:extLst>
          </p:cNvPr>
          <p:cNvSpPr>
            <a:spLocks noGrp="1"/>
          </p:cNvSpPr>
          <p:nvPr>
            <p:ph sz="half" idx="1"/>
          </p:nvPr>
        </p:nvSpPr>
        <p:spPr>
          <a:xfrm>
            <a:off x="1261872" y="4041355"/>
            <a:ext cx="9015837" cy="2138782"/>
          </a:xfrm>
        </p:spPr>
        <p:txBody>
          <a:bodyPr vert="horz" lIns="91440" tIns="45720" rIns="91440" bIns="45720" rtlCol="0" anchor="t">
            <a:normAutofit lnSpcReduction="10000"/>
          </a:bodyPr>
          <a:lstStyle/>
          <a:p>
            <a:r>
              <a:rPr lang="en-US"/>
              <a:t>The results above were gathered from 38 different recorded throws all in the same controlled environment. Invalid throws were filtered by the listener and excluded from analysis.</a:t>
            </a:r>
          </a:p>
          <a:p>
            <a:r>
              <a:rPr lang="en-US" b="1"/>
              <a:t>Environment </a:t>
            </a:r>
            <a:r>
              <a:rPr lang="en-US"/>
              <a:t>– The experimentation environment consists of throwing the ball from the same location to the same location 11ft or 3.35m away.</a:t>
            </a:r>
          </a:p>
          <a:p>
            <a:r>
              <a:rPr lang="en-US" b="1"/>
              <a:t>Key Result</a:t>
            </a:r>
            <a:r>
              <a:rPr lang="en-US"/>
              <a:t> – The system estimated throw distance </a:t>
            </a:r>
            <a:r>
              <a:rPr lang="en-US" b="1"/>
              <a:t>within ~4% error</a:t>
            </a:r>
            <a:r>
              <a:rPr lang="en-US"/>
              <a:t> in our controlled environment.</a:t>
            </a:r>
          </a:p>
        </p:txBody>
      </p:sp>
      <p:pic>
        <p:nvPicPr>
          <p:cNvPr id="8" name="Content Placeholder 7" descr="A table with numbers and a number on it&#10;&#10;AI-generated content may be incorrect.">
            <a:extLst>
              <a:ext uri="{FF2B5EF4-FFF2-40B4-BE49-F238E27FC236}">
                <a16:creationId xmlns:a16="http://schemas.microsoft.com/office/drawing/2014/main" id="{B77B958E-44FC-79B3-3F92-25CE1011D5A3}"/>
              </a:ext>
            </a:extLst>
          </p:cNvPr>
          <p:cNvPicPr>
            <a:picLocks noGrp="1" noChangeAspect="1"/>
          </p:cNvPicPr>
          <p:nvPr>
            <p:ph sz="half" idx="2"/>
          </p:nvPr>
        </p:nvPicPr>
        <p:blipFill>
          <a:blip r:embed="rId3"/>
          <a:stretch>
            <a:fillRect/>
          </a:stretch>
        </p:blipFill>
        <p:spPr>
          <a:xfrm>
            <a:off x="2789113" y="1795057"/>
            <a:ext cx="5965977" cy="2142470"/>
          </a:xfrm>
          <a:prstGeom prst="rect">
            <a:avLst/>
          </a:prstGeom>
        </p:spPr>
      </p:pic>
    </p:spTree>
    <p:extLst>
      <p:ext uri="{BB962C8B-B14F-4D97-AF65-F5344CB8AC3E}">
        <p14:creationId xmlns:p14="http://schemas.microsoft.com/office/powerpoint/2010/main" val="4288786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D6E8-7D6F-4D65-72CB-4A783C5169D8}"/>
              </a:ext>
            </a:extLst>
          </p:cNvPr>
          <p:cNvSpPr>
            <a:spLocks noGrp="1"/>
          </p:cNvSpPr>
          <p:nvPr>
            <p:ph type="title"/>
          </p:nvPr>
        </p:nvSpPr>
        <p:spPr/>
        <p:txBody>
          <a:bodyPr/>
          <a:lstStyle/>
          <a:p>
            <a:r>
              <a:rPr lang="en-US"/>
              <a:t>Limitations</a:t>
            </a:r>
          </a:p>
        </p:txBody>
      </p:sp>
      <p:sp>
        <p:nvSpPr>
          <p:cNvPr id="3" name="Content Placeholder 2">
            <a:extLst>
              <a:ext uri="{FF2B5EF4-FFF2-40B4-BE49-F238E27FC236}">
                <a16:creationId xmlns:a16="http://schemas.microsoft.com/office/drawing/2014/main" id="{492819C1-677B-9333-B14A-F9C1190E5EBB}"/>
              </a:ext>
            </a:extLst>
          </p:cNvPr>
          <p:cNvSpPr>
            <a:spLocks noGrp="1"/>
          </p:cNvSpPr>
          <p:nvPr>
            <p:ph idx="1"/>
          </p:nvPr>
        </p:nvSpPr>
        <p:spPr/>
        <p:txBody>
          <a:bodyPr vert="horz" lIns="91440" tIns="45720" rIns="91440" bIns="45720" rtlCol="0" anchor="t">
            <a:normAutofit fontScale="85000" lnSpcReduction="10000"/>
          </a:bodyPr>
          <a:lstStyle/>
          <a:p>
            <a:r>
              <a:rPr lang="en-US"/>
              <a:t>The </a:t>
            </a:r>
            <a:r>
              <a:rPr lang="en-US" err="1"/>
              <a:t>SmartBall</a:t>
            </a:r>
            <a:r>
              <a:rPr lang="en-US"/>
              <a:t> system in its current form is just a prototype and thus has various critical limitations.</a:t>
            </a:r>
          </a:p>
          <a:p>
            <a:r>
              <a:rPr lang="en-US" b="1"/>
              <a:t>Size &amp; Weight </a:t>
            </a:r>
            <a:r>
              <a:rPr lang="en-US"/>
              <a:t>– The </a:t>
            </a:r>
            <a:r>
              <a:rPr lang="en-US" err="1"/>
              <a:t>SmartBall</a:t>
            </a:r>
            <a:r>
              <a:rPr lang="en-US"/>
              <a:t> system is currently large and adds weight to the game ball. This reduces its applicability in certain sports that have smaller balls. The weight increase also changes how the ball acts in motion compared to a traditional ball.</a:t>
            </a:r>
          </a:p>
          <a:p>
            <a:r>
              <a:rPr lang="en-US" b="1"/>
              <a:t>Pre-Configuration</a:t>
            </a:r>
            <a:r>
              <a:rPr lang="en-US"/>
              <a:t> – The system requires that certain information is flashed to the ESP32 beforehand, reducing its practicality.</a:t>
            </a:r>
          </a:p>
          <a:p>
            <a:r>
              <a:rPr lang="en-US" b="1"/>
              <a:t>Charging </a:t>
            </a:r>
            <a:r>
              <a:rPr lang="en-US"/>
              <a:t>– The battery used by the system must be removed to be able to be charged which significantly reduces its practicality.</a:t>
            </a:r>
          </a:p>
          <a:p>
            <a:r>
              <a:rPr lang="en-US" b="1"/>
              <a:t>Wi-Fi Connection</a:t>
            </a:r>
            <a:r>
              <a:rPr lang="en-US"/>
              <a:t> – The system relies upon a stable and pre-existing Wi-Fi connection across the areas where it is used.</a:t>
            </a:r>
          </a:p>
          <a:p>
            <a:r>
              <a:rPr lang="en-US" b="1"/>
              <a:t>Controlled Environment</a:t>
            </a:r>
            <a:r>
              <a:rPr lang="en-US"/>
              <a:t> – The system currently requires a controlled environment where the listener is tuned to this environment to receive accurate results.</a:t>
            </a:r>
          </a:p>
          <a:p>
            <a:r>
              <a:rPr lang="en-US" b="1"/>
              <a:t>Operates in the Sensor Frame</a:t>
            </a:r>
            <a:r>
              <a:rPr lang="en-US"/>
              <a:t> – The </a:t>
            </a:r>
            <a:r>
              <a:rPr lang="en-US" err="1"/>
              <a:t>SmartBall</a:t>
            </a:r>
            <a:r>
              <a:rPr lang="en-US"/>
              <a:t> currently only knows information about itself and not about the outside world, reducing its practicality and feature set.</a:t>
            </a:r>
          </a:p>
        </p:txBody>
      </p:sp>
    </p:spTree>
    <p:extLst>
      <p:ext uri="{BB962C8B-B14F-4D97-AF65-F5344CB8AC3E}">
        <p14:creationId xmlns:p14="http://schemas.microsoft.com/office/powerpoint/2010/main" val="1559950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E0B09-C14F-A87E-EA7C-3B221178F16D}"/>
              </a:ext>
            </a:extLst>
          </p:cNvPr>
          <p:cNvSpPr>
            <a:spLocks noGrp="1"/>
          </p:cNvSpPr>
          <p:nvPr>
            <p:ph type="title"/>
          </p:nvPr>
        </p:nvSpPr>
        <p:spPr/>
        <p:txBody>
          <a:bodyPr/>
          <a:lstStyle/>
          <a:p>
            <a:r>
              <a:rPr lang="en-US"/>
              <a:t>Future Work</a:t>
            </a:r>
          </a:p>
        </p:txBody>
      </p:sp>
      <p:sp>
        <p:nvSpPr>
          <p:cNvPr id="3" name="Content Placeholder 2">
            <a:extLst>
              <a:ext uri="{FF2B5EF4-FFF2-40B4-BE49-F238E27FC236}">
                <a16:creationId xmlns:a16="http://schemas.microsoft.com/office/drawing/2014/main" id="{9D348199-1B87-8F22-F0F3-02826974B236}"/>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The </a:t>
            </a:r>
            <a:r>
              <a:rPr lang="en-US" dirty="0" err="1">
                <a:ea typeface="+mn-lt"/>
                <a:cs typeface="+mn-lt"/>
              </a:rPr>
              <a:t>SmartBall</a:t>
            </a:r>
            <a:r>
              <a:rPr lang="en-US" dirty="0">
                <a:ea typeface="+mn-lt"/>
                <a:cs typeface="+mn-lt"/>
              </a:rPr>
              <a:t> prototype demonstrates feasibility, but several improvements can significantly enhance accuracy and usability:</a:t>
            </a:r>
            <a:endParaRPr lang="en-US" dirty="0"/>
          </a:p>
          <a:p>
            <a:r>
              <a:rPr lang="en-US" b="1" dirty="0"/>
              <a:t>Operate in the Global Frame</a:t>
            </a:r>
            <a:r>
              <a:rPr lang="en-US" dirty="0"/>
              <a:t> – We can add a magnetometer to allow the ball to better determine expected distance and even calculate trajectories.</a:t>
            </a:r>
          </a:p>
          <a:p>
            <a:r>
              <a:rPr lang="en-US" b="1" dirty="0"/>
              <a:t>Smaller Components</a:t>
            </a:r>
            <a:r>
              <a:rPr lang="en-US" dirty="0"/>
              <a:t> – We can reduce the footprint of the system by switching to a Mini ESP32, smaller battery, and smaller switches. We could design our own PCB that contains all the components to reduce the footprint even more.</a:t>
            </a:r>
          </a:p>
          <a:p>
            <a:r>
              <a:rPr lang="en-US" b="1"/>
              <a:t>Onboard Charging</a:t>
            </a:r>
            <a:r>
              <a:rPr lang="en-US"/>
              <a:t> – We can use the same TP4056 charger onboard to allow for the ball to never have to be disassembled to be charged.</a:t>
            </a:r>
          </a:p>
          <a:p>
            <a:r>
              <a:rPr lang="en-US" b="1" dirty="0"/>
              <a:t>Communication Robustness</a:t>
            </a:r>
            <a:r>
              <a:rPr lang="en-US" dirty="0"/>
              <a:t> – Instead of relying upon a pre-existing Wi-Fi network, we can utilize the ESP32's capability of operating in AP mode in areas with no Wi-Fi. We can also utilize the ESP32's Long Range mode to extend how far the ball can communicate when Wi-Fi is present (~1km).</a:t>
            </a:r>
          </a:p>
          <a:p>
            <a:r>
              <a:rPr lang="en-US" b="1" dirty="0"/>
              <a:t>Wireless Configuration</a:t>
            </a:r>
            <a:r>
              <a:rPr lang="en-US" dirty="0"/>
              <a:t> – We can use the wireless capabilities (ex. </a:t>
            </a:r>
            <a:r>
              <a:rPr lang="en-US" dirty="0" err="1"/>
              <a:t>bluetooth</a:t>
            </a:r>
            <a:r>
              <a:rPr lang="en-US" dirty="0"/>
              <a:t>) of the ESP32 to configure the Wi-Fi connection parameters for sensor data communication.</a:t>
            </a:r>
          </a:p>
        </p:txBody>
      </p:sp>
    </p:spTree>
    <p:extLst>
      <p:ext uri="{BB962C8B-B14F-4D97-AF65-F5344CB8AC3E}">
        <p14:creationId xmlns:p14="http://schemas.microsoft.com/office/powerpoint/2010/main" val="1108704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BBC9A-12AD-AB6E-7D5C-CDD2C76DA100}"/>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4BD85F4C-1CCD-5DB3-A115-9A3DF76EE88E}"/>
              </a:ext>
            </a:extLst>
          </p:cNvPr>
          <p:cNvSpPr>
            <a:spLocks noGrp="1"/>
          </p:cNvSpPr>
          <p:nvPr>
            <p:ph idx="1"/>
          </p:nvPr>
        </p:nvSpPr>
        <p:spPr/>
        <p:txBody>
          <a:bodyPr vert="horz" lIns="91440" tIns="45720" rIns="91440" bIns="45720" rtlCol="0" anchor="t">
            <a:normAutofit/>
          </a:bodyPr>
          <a:lstStyle/>
          <a:p>
            <a:r>
              <a:rPr lang="en-US" dirty="0">
                <a:ea typeface="+mn-lt"/>
                <a:cs typeface="+mn-lt"/>
              </a:rPr>
              <a:t>The </a:t>
            </a:r>
            <a:r>
              <a:rPr lang="en-US" dirty="0" err="1">
                <a:ea typeface="+mn-lt"/>
                <a:cs typeface="+mn-lt"/>
              </a:rPr>
              <a:t>SmartBall</a:t>
            </a:r>
            <a:r>
              <a:rPr lang="en-US" dirty="0">
                <a:ea typeface="+mn-lt"/>
                <a:cs typeface="+mn-lt"/>
              </a:rPr>
              <a:t> system is a low-cost, portable alternative to traditional sports analytics systems. </a:t>
            </a:r>
            <a:endParaRPr lang="en-US" dirty="0"/>
          </a:p>
          <a:p>
            <a:r>
              <a:rPr lang="en-US">
                <a:ea typeface="+mn-lt"/>
                <a:cs typeface="+mn-lt"/>
              </a:rPr>
              <a:t>It provides real-time throw detection and wireless data transmission. </a:t>
            </a:r>
            <a:endParaRPr lang="en-US"/>
          </a:p>
          <a:p>
            <a:r>
              <a:rPr lang="en-US">
                <a:ea typeface="+mn-lt"/>
                <a:cs typeface="+mn-lt"/>
              </a:rPr>
              <a:t>The system extracts key metrics: release speed, acceleration, rotation, distance </a:t>
            </a:r>
            <a:endParaRPr lang="en-US"/>
          </a:p>
          <a:p>
            <a:r>
              <a:rPr lang="en-US" b="1" dirty="0">
                <a:ea typeface="+mn-lt"/>
                <a:cs typeface="+mn-lt"/>
              </a:rPr>
              <a:t>The </a:t>
            </a:r>
            <a:r>
              <a:rPr lang="en-US" b="1" dirty="0" err="1">
                <a:ea typeface="+mn-lt"/>
                <a:cs typeface="+mn-lt"/>
              </a:rPr>
              <a:t>SmartBall</a:t>
            </a:r>
            <a:r>
              <a:rPr lang="en-US" b="1" dirty="0">
                <a:ea typeface="+mn-lt"/>
                <a:cs typeface="+mn-lt"/>
              </a:rPr>
              <a:t> was shown to have a ~4% distance estimation error in controlled environment.</a:t>
            </a:r>
            <a:r>
              <a:rPr lang="en-US" dirty="0">
                <a:ea typeface="+mn-lt"/>
                <a:cs typeface="+mn-lt"/>
              </a:rPr>
              <a:t> </a:t>
            </a:r>
            <a:endParaRPr lang="en-US" dirty="0"/>
          </a:p>
          <a:p>
            <a:r>
              <a:rPr lang="en-US" dirty="0">
                <a:ea typeface="+mn-lt"/>
                <a:cs typeface="+mn-lt"/>
              </a:rPr>
              <a:t>The system demonstrates feasibility of embedded, sensor-based sports analytics. </a:t>
            </a:r>
            <a:endParaRPr lang="en-US" dirty="0"/>
          </a:p>
          <a:p>
            <a:r>
              <a:rPr lang="en-US" dirty="0">
                <a:ea typeface="+mn-lt"/>
                <a:cs typeface="+mn-lt"/>
              </a:rPr>
              <a:t>The system also provides a strong foundation for future improvements (global tracking, miniaturization).</a:t>
            </a:r>
            <a:endParaRPr lang="en-US" dirty="0"/>
          </a:p>
          <a:p>
            <a:endParaRPr lang="en-US" dirty="0"/>
          </a:p>
        </p:txBody>
      </p:sp>
    </p:spTree>
    <p:extLst>
      <p:ext uri="{BB962C8B-B14F-4D97-AF65-F5344CB8AC3E}">
        <p14:creationId xmlns:p14="http://schemas.microsoft.com/office/powerpoint/2010/main" val="4195654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995B-A04A-C17B-2281-C13F07714EA5}"/>
              </a:ext>
            </a:extLst>
          </p:cNvPr>
          <p:cNvSpPr>
            <a:spLocks noGrp="1"/>
          </p:cNvSpPr>
          <p:nvPr>
            <p:ph type="ctrTitle"/>
          </p:nvPr>
        </p:nvSpPr>
        <p:spPr>
          <a:xfrm>
            <a:off x="1220119" y="2877938"/>
            <a:ext cx="10096813" cy="1108470"/>
          </a:xfrm>
        </p:spPr>
        <p:txBody>
          <a:bodyPr/>
          <a:lstStyle/>
          <a:p>
            <a:r>
              <a:rPr lang="en-US"/>
              <a:t>Thank you. Questions?</a:t>
            </a:r>
          </a:p>
        </p:txBody>
      </p:sp>
    </p:spTree>
    <p:extLst>
      <p:ext uri="{BB962C8B-B14F-4D97-AF65-F5344CB8AC3E}">
        <p14:creationId xmlns:p14="http://schemas.microsoft.com/office/powerpoint/2010/main" val="378066299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9</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View</vt:lpstr>
      <vt:lpstr>Undergraduate Group 1  The SmartBall Wireless &amp; Mobile Computing Final Project</vt:lpstr>
      <vt:lpstr>Presentation Overview</vt:lpstr>
      <vt:lpstr>Problem Statement</vt:lpstr>
      <vt:lpstr>Our Solution – The SmartBall</vt:lpstr>
      <vt:lpstr>System Overview</vt:lpstr>
      <vt:lpstr>Listener – Code Overview</vt:lpstr>
      <vt:lpstr>Listener – Process Throw</vt:lpstr>
      <vt:lpstr>Listener – Detect Release Moment</vt:lpstr>
      <vt:lpstr>Listener – Compute Release Speed</vt:lpstr>
      <vt:lpstr>Listener – Peak Acceleration And Rotation Extraction</vt:lpstr>
      <vt:lpstr>Listener – Expected Travel Distance</vt:lpstr>
      <vt:lpstr>ESP32 – UDP Streaming</vt:lpstr>
      <vt:lpstr>ESP32 – Auto-Calibration</vt:lpstr>
      <vt:lpstr>ESP32 – Pre-Roll Buffer &amp; Throw Detection</vt:lpstr>
      <vt:lpstr>Hardware Overview</vt:lpstr>
      <vt:lpstr>The SmartBall Demo</vt:lpstr>
      <vt:lpstr>Experimentation Results</vt:lpstr>
      <vt:lpstr>Limitations</vt:lpstr>
      <vt:lpstr>Future Work</vt:lpstr>
      <vt:lpstr>Conclusion</vt:lpstr>
      <vt:lpstr>Thank you.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1449</cp:revision>
  <dcterms:created xsi:type="dcterms:W3CDTF">2026-04-14T22:37:10Z</dcterms:created>
  <dcterms:modified xsi:type="dcterms:W3CDTF">2026-04-15T03:13:30Z</dcterms:modified>
</cp:coreProperties>
</file>